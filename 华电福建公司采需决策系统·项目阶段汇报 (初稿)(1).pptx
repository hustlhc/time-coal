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2"/>
    <p:sldId id="266" r:id="rId13"/>
    <p:sldId id="267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0" y="0"/>
      </p:cViewPr>
      <p:guideLst>
        <p:guide orient="horz" pos="216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并基于精简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后特征库完成联合六指数模型重训上线；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在降低特征噪声、缓解指数间走势相互牵制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与偏移的同时，推理效率明显提升，通用涨跌趋势拟合能力未降级，趋势跟随精度达预期。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Relationship Id="rId21" Type="http://schemas.openxmlformats.org/officeDocument/2006/relationships/image" Target="../media/image42.png"/><Relationship Id="rId22" Type="http://schemas.openxmlformats.org/officeDocument/2006/relationships/image" Target="../media/image43.png"/><Relationship Id="rId2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Relationship Id="rId25" Type="http://schemas.openxmlformats.org/officeDocument/2006/relationships/image" Target="../media/image68.png"/><Relationship Id="rId26" Type="http://schemas.openxmlformats.org/officeDocument/2006/relationships/image" Target="../media/image69.png"/><Relationship Id="rId27" Type="http://schemas.openxmlformats.org/officeDocument/2006/relationships/image" Target="../media/image70.png"/><Relationship Id="rId28" Type="http://schemas.openxmlformats.org/officeDocument/2006/relationships/image" Target="../media/image71.png"/><Relationship Id="rId29" Type="http://schemas.openxmlformats.org/officeDocument/2006/relationships/image" Target="../media/image72.png"/><Relationship Id="rId30" Type="http://schemas.openxmlformats.org/officeDocument/2006/relationships/image" Target="../media/image73.png"/><Relationship Id="rId31" Type="http://schemas.openxmlformats.org/officeDocument/2006/relationships/image" Target="../media/image74.png"/><Relationship Id="rId32" Type="http://schemas.openxmlformats.org/officeDocument/2006/relationships/image" Target="../media/image75.png"/><Relationship Id="rId3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6.jpeg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6.jpeg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image" Target="../media/image98.png"/><Relationship Id="rId14" Type="http://schemas.openxmlformats.org/officeDocument/2006/relationships/image" Target="../media/image99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102.png"/><Relationship Id="rId18" Type="http://schemas.openxmlformats.org/officeDocument/2006/relationships/image" Target="../media/image103.png"/><Relationship Id="rId19" Type="http://schemas.openxmlformats.org/officeDocument/2006/relationships/image" Target="../media/image104.png"/><Relationship Id="rId20" Type="http://schemas.openxmlformats.org/officeDocument/2006/relationships/image" Target="../media/image105.png"/><Relationship Id="rId2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6.jpeg"/><Relationship Id="rId2" Type="http://schemas.openxmlformats.org/officeDocument/2006/relationships/tags" Target="../tags/tag1.xml"/><Relationship Id="rId3" Type="http://schemas.openxmlformats.org/officeDocument/2006/relationships/image" Target="../media/image107.png"/><Relationship Id="rId4" Type="http://schemas.openxmlformats.org/officeDocument/2006/relationships/tags" Target="../tags/tag2.xml"/><Relationship Id="rId5" Type="http://schemas.openxmlformats.org/officeDocument/2006/relationships/image" Target="../media/image108.png"/><Relationship Id="rId6" Type="http://schemas.openxmlformats.org/officeDocument/2006/relationships/tags" Target="../tags/tag3.xml"/><Relationship Id="rId7" Type="http://schemas.openxmlformats.org/officeDocument/2006/relationships/image" Target="../media/image109.png"/><Relationship Id="rId8" Type="http://schemas.openxmlformats.org/officeDocument/2006/relationships/tags" Target="../tags/tag4.xml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tags" Target="../tags/tag5.xml"/><Relationship Id="rId12" Type="http://schemas.openxmlformats.org/officeDocument/2006/relationships/image" Target="../media/image112.png"/><Relationship Id="rId13" Type="http://schemas.openxmlformats.org/officeDocument/2006/relationships/tags" Target="../tags/tag6.xml"/><Relationship Id="rId14" Type="http://schemas.openxmlformats.org/officeDocument/2006/relationships/image" Target="../media/image113.png"/><Relationship Id="rId15" Type="http://schemas.openxmlformats.org/officeDocument/2006/relationships/tags" Target="../tags/tag7.xml"/><Relationship Id="rId16" Type="http://schemas.openxmlformats.org/officeDocument/2006/relationships/image" Target="../media/image114.png"/><Relationship Id="rId17" Type="http://schemas.openxmlformats.org/officeDocument/2006/relationships/image" Target="../media/image115.png"/><Relationship Id="rId18" Type="http://schemas.openxmlformats.org/officeDocument/2006/relationships/tags" Target="../tags/tag8.xml"/><Relationship Id="rId19" Type="http://schemas.openxmlformats.org/officeDocument/2006/relationships/image" Target="../media/image116.png"/><Relationship Id="rId20" Type="http://schemas.openxmlformats.org/officeDocument/2006/relationships/image" Target="../media/image117.png"/><Relationship Id="rId21" Type="http://schemas.openxmlformats.org/officeDocument/2006/relationships/image" Target="../media/image118.png"/><Relationship Id="rId22" Type="http://schemas.openxmlformats.org/officeDocument/2006/relationships/tags" Target="../tags/tag9.xml"/><Relationship Id="rId23" Type="http://schemas.openxmlformats.org/officeDocument/2006/relationships/image" Target="../media/image119.png"/><Relationship Id="rId24" Type="http://schemas.openxmlformats.org/officeDocument/2006/relationships/tags" Target="../tags/tag10.xml"/><Relationship Id="rId25" Type="http://schemas.openxmlformats.org/officeDocument/2006/relationships/image" Target="../media/image120.png"/><Relationship Id="rId26" Type="http://schemas.openxmlformats.org/officeDocument/2006/relationships/image" Target="../media/image121.png"/><Relationship Id="rId27" Type="http://schemas.openxmlformats.org/officeDocument/2006/relationships/image" Target="../media/image122.png"/><Relationship Id="rId28" Type="http://schemas.openxmlformats.org/officeDocument/2006/relationships/image" Target="../media/image123.png"/><Relationship Id="rId29" Type="http://schemas.openxmlformats.org/officeDocument/2006/relationships/tags" Target="../tags/tag11.xml"/><Relationship Id="rId30" Type="http://schemas.openxmlformats.org/officeDocument/2006/relationships/tags" Target="../tags/tag12.xml"/><Relationship Id="rId31" Type="http://schemas.openxmlformats.org/officeDocument/2006/relationships/tags" Target="../tags/tag13.xml"/><Relationship Id="rId32" Type="http://schemas.openxmlformats.org/officeDocument/2006/relationships/tags" Target="../tags/tag14.xml"/><Relationship Id="rId33" Type="http://schemas.openxmlformats.org/officeDocument/2006/relationships/tags" Target="../tags/tag15.xml"/><Relationship Id="rId34" Type="http://schemas.openxmlformats.org/officeDocument/2006/relationships/tags" Target="../tags/tag16.xml"/><Relationship Id="rId35" Type="http://schemas.openxmlformats.org/officeDocument/2006/relationships/tags" Target="../tags/tag17.xml"/><Relationship Id="rId36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24.jpeg"/><Relationship Id="rId2" Type="http://schemas.openxmlformats.org/officeDocument/2006/relationships/tags" Target="../tags/tag18.xml"/><Relationship Id="rId3" Type="http://schemas.openxmlformats.org/officeDocument/2006/relationships/image" Target="../media/image125.png"/><Relationship Id="rId4" Type="http://schemas.openxmlformats.org/officeDocument/2006/relationships/tags" Target="../tags/tag19.xml"/><Relationship Id="rId5" Type="http://schemas.openxmlformats.org/officeDocument/2006/relationships/image" Target="../media/image126.png"/><Relationship Id="rId6" Type="http://schemas.openxmlformats.org/officeDocument/2006/relationships/tags" Target="../tags/tag20.xml"/><Relationship Id="rId7" Type="http://schemas.openxmlformats.org/officeDocument/2006/relationships/image" Target="../media/image127.png"/><Relationship Id="rId8" Type="http://schemas.openxmlformats.org/officeDocument/2006/relationships/tags" Target="../tags/tag21.xml"/><Relationship Id="rId9" Type="http://schemas.openxmlformats.org/officeDocument/2006/relationships/image" Target="../media/image128.png"/><Relationship Id="rId10" Type="http://schemas.openxmlformats.org/officeDocument/2006/relationships/tags" Target="../tags/tag22.xml"/><Relationship Id="rId11" Type="http://schemas.openxmlformats.org/officeDocument/2006/relationships/image" Target="../media/image129.png"/><Relationship Id="rId12" Type="http://schemas.openxmlformats.org/officeDocument/2006/relationships/tags" Target="../tags/tag23.xml"/><Relationship Id="rId13" Type="http://schemas.openxmlformats.org/officeDocument/2006/relationships/image" Target="../media/image130.png"/><Relationship Id="rId14" Type="http://schemas.openxmlformats.org/officeDocument/2006/relationships/tags" Target="../tags/tag24.xml"/><Relationship Id="rId15" Type="http://schemas.openxmlformats.org/officeDocument/2006/relationships/image" Target="../media/image131.png"/><Relationship Id="rId16" Type="http://schemas.openxmlformats.org/officeDocument/2006/relationships/tags" Target="../tags/tag25.xml"/><Relationship Id="rId17" Type="http://schemas.openxmlformats.org/officeDocument/2006/relationships/image" Target="../media/image132.png"/><Relationship Id="rId18" Type="http://schemas.openxmlformats.org/officeDocument/2006/relationships/tags" Target="../tags/tag26.xml"/><Relationship Id="rId19" Type="http://schemas.openxmlformats.org/officeDocument/2006/relationships/image" Target="../media/image133.png"/><Relationship Id="rId20" Type="http://schemas.openxmlformats.org/officeDocument/2006/relationships/tags" Target="../tags/tag27.xml"/><Relationship Id="rId21" Type="http://schemas.openxmlformats.org/officeDocument/2006/relationships/image" Target="../media/image134.png"/><Relationship Id="rId22" Type="http://schemas.openxmlformats.org/officeDocument/2006/relationships/tags" Target="../tags/tag28.xml"/><Relationship Id="rId23" Type="http://schemas.openxmlformats.org/officeDocument/2006/relationships/tags" Target="../tags/tag29.xml"/><Relationship Id="rId24" Type="http://schemas.openxmlformats.org/officeDocument/2006/relationships/tags" Target="../tags/tag30.xml"/><Relationship Id="rId25" Type="http://schemas.openxmlformats.org/officeDocument/2006/relationships/tags" Target="../tags/tag31.xml"/><Relationship Id="rId26" Type="http://schemas.openxmlformats.org/officeDocument/2006/relationships/tags" Target="../tags/tag32.xml"/><Relationship Id="rId27" Type="http://schemas.openxmlformats.org/officeDocument/2006/relationships/tags" Target="../tags/tag33.xml"/><Relationship Id="rId28" Type="http://schemas.openxmlformats.org/officeDocument/2006/relationships/tags" Target="../tags/tag34.xml"/><Relationship Id="rId29" Type="http://schemas.openxmlformats.org/officeDocument/2006/relationships/tags" Target="../tags/tag35.xml"/><Relationship Id="rId30" Type="http://schemas.openxmlformats.org/officeDocument/2006/relationships/tags" Target="../tags/tag36.xml"/><Relationship Id="rId31" Type="http://schemas.openxmlformats.org/officeDocument/2006/relationships/slideLayout" Target="../slideLayouts/slideLayout7.xml"/><Relationship Id="rId3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35.jpeg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Relationship Id="rId14" Type="http://schemas.openxmlformats.org/officeDocument/2006/relationships/image" Target="../media/image148.png"/><Relationship Id="rId15" Type="http://schemas.openxmlformats.org/officeDocument/2006/relationships/image" Target="../media/image149.png"/><Relationship Id="rId16" Type="http://schemas.openxmlformats.org/officeDocument/2006/relationships/image" Target="../media/image150.png"/><Relationship Id="rId17" Type="http://schemas.openxmlformats.org/officeDocument/2006/relationships/image" Target="../media/image151.png"/><Relationship Id="rId18" Type="http://schemas.openxmlformats.org/officeDocument/2006/relationships/image" Target="../media/image152.png"/><Relationship Id="rId19" Type="http://schemas.openxmlformats.org/officeDocument/2006/relationships/image" Target="../media/image153.png"/><Relationship Id="rId20" Type="http://schemas.openxmlformats.org/officeDocument/2006/relationships/image" Target="../media/image154.png"/><Relationship Id="rId2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55.jpeg"/><Relationship Id="rId2" Type="http://schemas.openxmlformats.org/officeDocument/2006/relationships/tags" Target="../tags/tag37.xml"/><Relationship Id="rId3" Type="http://schemas.openxmlformats.org/officeDocument/2006/relationships/image" Target="../media/image156.png"/><Relationship Id="rId4" Type="http://schemas.openxmlformats.org/officeDocument/2006/relationships/tags" Target="../tags/tag38.xml"/><Relationship Id="rId5" Type="http://schemas.openxmlformats.org/officeDocument/2006/relationships/image" Target="../media/image157.png"/><Relationship Id="rId6" Type="http://schemas.openxmlformats.org/officeDocument/2006/relationships/tags" Target="../tags/tag39.xml"/><Relationship Id="rId7" Type="http://schemas.openxmlformats.org/officeDocument/2006/relationships/image" Target="../media/image158.png"/><Relationship Id="rId8" Type="http://schemas.openxmlformats.org/officeDocument/2006/relationships/tags" Target="../tags/tag40.xml"/><Relationship Id="rId9" Type="http://schemas.openxmlformats.org/officeDocument/2006/relationships/image" Target="../media/image159.png"/><Relationship Id="rId10" Type="http://schemas.openxmlformats.org/officeDocument/2006/relationships/tags" Target="../tags/tag41.xml"/><Relationship Id="rId11" Type="http://schemas.openxmlformats.org/officeDocument/2006/relationships/image" Target="../media/image160.png"/><Relationship Id="rId12" Type="http://schemas.openxmlformats.org/officeDocument/2006/relationships/tags" Target="../tags/tag42.xml"/><Relationship Id="rId13" Type="http://schemas.openxmlformats.org/officeDocument/2006/relationships/image" Target="../media/image161.png"/><Relationship Id="rId14" Type="http://schemas.openxmlformats.org/officeDocument/2006/relationships/image" Target="../media/image162.png"/><Relationship Id="rId15" Type="http://schemas.openxmlformats.org/officeDocument/2006/relationships/image" Target="../media/image163.png"/><Relationship Id="rId16" Type="http://schemas.openxmlformats.org/officeDocument/2006/relationships/image" Target="../media/image164.png"/><Relationship Id="rId17" Type="http://schemas.openxmlformats.org/officeDocument/2006/relationships/image" Target="../media/image165.png"/><Relationship Id="rId18" Type="http://schemas.openxmlformats.org/officeDocument/2006/relationships/image" Target="../media/image166.png"/><Relationship Id="rId19" Type="http://schemas.openxmlformats.org/officeDocument/2006/relationships/image" Target="../media/image167.png"/><Relationship Id="rId20" Type="http://schemas.openxmlformats.org/officeDocument/2006/relationships/tags" Target="../tags/tag43.xml"/><Relationship Id="rId21" Type="http://schemas.openxmlformats.org/officeDocument/2006/relationships/tags" Target="../tags/tag44.xml"/><Relationship Id="rId22" Type="http://schemas.openxmlformats.org/officeDocument/2006/relationships/tags" Target="../tags/tag45.xml"/><Relationship Id="rId23" Type="http://schemas.openxmlformats.org/officeDocument/2006/relationships/tags" Target="../tags/tag46.xml"/><Relationship Id="rId24" Type="http://schemas.openxmlformats.org/officeDocument/2006/relationships/tags" Target="../tags/tag47.xml"/><Relationship Id="rId25" Type="http://schemas.openxmlformats.org/officeDocument/2006/relationships/tags" Target="../tags/tag48.xml"/><Relationship Id="rId26" Type="http://schemas.openxmlformats.org/officeDocument/2006/relationships/tags" Target="../tags/tag49.xml"/><Relationship Id="rId27" Type="http://schemas.openxmlformats.org/officeDocument/2006/relationships/tags" Target="../tags/tag50.xml"/><Relationship Id="rId28" Type="http://schemas.openxmlformats.org/officeDocument/2006/relationships/tags" Target="../tags/tag51.xml"/><Relationship Id="rId29" Type="http://schemas.openxmlformats.org/officeDocument/2006/relationships/tags" Target="../tags/tag52.xml"/><Relationship Id="rId30" Type="http://schemas.openxmlformats.org/officeDocument/2006/relationships/tags" Target="../tags/tag53.xml"/><Relationship Id="rId31" Type="http://schemas.openxmlformats.org/officeDocument/2006/relationships/tags" Target="../tags/tag54.xml"/><Relationship Id="rId3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8.jpeg"/><Relationship Id="rId2" Type="http://schemas.openxmlformats.org/officeDocument/2006/relationships/image" Target="../media/image169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70.jpeg"/><Relationship Id="rId2" Type="http://schemas.openxmlformats.org/officeDocument/2006/relationships/image" Target="../media/image171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176.png"/><Relationship Id="rId8" Type="http://schemas.openxmlformats.org/officeDocument/2006/relationships/image" Target="../media/image177.png"/><Relationship Id="rId9" Type="http://schemas.openxmlformats.org/officeDocument/2006/relationships/image" Target="../media/image178.png"/><Relationship Id="rId10" Type="http://schemas.openxmlformats.org/officeDocument/2006/relationships/image" Target="../media/image179.png"/><Relationship Id="rId11" Type="http://schemas.openxmlformats.org/officeDocument/2006/relationships/image" Target="../media/image180.png"/><Relationship Id="rId1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81.jpeg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Relationship Id="rId5" Type="http://schemas.openxmlformats.org/officeDocument/2006/relationships/image" Target="../media/image185.png"/><Relationship Id="rId6" Type="http://schemas.openxmlformats.org/officeDocument/2006/relationships/image" Target="../media/image186.png"/><Relationship Id="rId7" Type="http://schemas.openxmlformats.org/officeDocument/2006/relationships/image" Target="../media/image187.png"/><Relationship Id="rId8" Type="http://schemas.openxmlformats.org/officeDocument/2006/relationships/image" Target="../media/image188.png"/><Relationship Id="rId9" Type="http://schemas.openxmlformats.org/officeDocument/2006/relationships/image" Target="../media/image189.png"/><Relationship Id="rId10" Type="http://schemas.openxmlformats.org/officeDocument/2006/relationships/image" Target="../media/image190.png"/><Relationship Id="rId11" Type="http://schemas.openxmlformats.org/officeDocument/2006/relationships/image" Target="../media/image191.png"/><Relationship Id="rId12" Type="http://schemas.openxmlformats.org/officeDocument/2006/relationships/image" Target="../media/image192.png"/><Relationship Id="rId13" Type="http://schemas.openxmlformats.org/officeDocument/2006/relationships/image" Target="../media/image193.png"/><Relationship Id="rId14" Type="http://schemas.openxmlformats.org/officeDocument/2006/relationships/image" Target="../media/image194.png"/><Relationship Id="rId15" Type="http://schemas.openxmlformats.org/officeDocument/2006/relationships/image" Target="../media/image195.png"/><Relationship Id="rId16" Type="http://schemas.openxmlformats.org/officeDocument/2006/relationships/image" Target="../media/image196.png"/><Relationship Id="rId1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97.jpeg"/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Relationship Id="rId7" Type="http://schemas.openxmlformats.org/officeDocument/2006/relationships/image" Target="../media/image203.png"/><Relationship Id="rId8" Type="http://schemas.openxmlformats.org/officeDocument/2006/relationships/image" Target="../media/image204.png"/><Relationship Id="rId9" Type="http://schemas.openxmlformats.org/officeDocument/2006/relationships/image" Target="../media/image205.png"/><Relationship Id="rId10" Type="http://schemas.openxmlformats.org/officeDocument/2006/relationships/image" Target="../media/image206.png"/><Relationship Id="rId11" Type="http://schemas.openxmlformats.org/officeDocument/2006/relationships/image" Target="../media/image207.png"/><Relationship Id="rId12" Type="http://schemas.openxmlformats.org/officeDocument/2006/relationships/image" Target="../media/image208.png"/><Relationship Id="rId13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09.jpeg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Relationship Id="rId7" Type="http://schemas.openxmlformats.org/officeDocument/2006/relationships/image" Target="../media/image215.png"/><Relationship Id="rId8" Type="http://schemas.openxmlformats.org/officeDocument/2006/relationships/image" Target="../media/image216.png"/><Relationship Id="rId9" Type="http://schemas.openxmlformats.org/officeDocument/2006/relationships/image" Target="../media/image217.png"/><Relationship Id="rId10" Type="http://schemas.openxmlformats.org/officeDocument/2006/relationships/image" Target="../media/image218.png"/><Relationship Id="rId11" Type="http://schemas.openxmlformats.org/officeDocument/2006/relationships/image" Target="../media/image219.png"/><Relationship Id="rId12" Type="http://schemas.openxmlformats.org/officeDocument/2006/relationships/image" Target="../media/image220.png"/><Relationship Id="rId13" Type="http://schemas.openxmlformats.org/officeDocument/2006/relationships/image" Target="../media/image221.png"/><Relationship Id="rId14" Type="http://schemas.openxmlformats.org/officeDocument/2006/relationships/image" Target="../media/image222.png"/><Relationship Id="rId15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23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05837" y="1944147"/>
            <a:ext cx="7151084" cy="6429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</a:pPr>
            <a:r>
              <a:rPr sz="4575" b="1" i="0">
                <a:solidFill>
                  <a:srgbClr val="011036"/>
                </a:solidFill>
                <a:latin typeface="Noto Sans SC" panose="020B0200000000000000" charset="-122"/>
                <a:ea typeface="Noto Sans SC" panose="020B0200000000000000" charset="-122"/>
              </a:rPr>
              <a:t>华电福建公司采需决策系统</a:t>
            </a:r>
            <a:r>
              <a:rPr lang="zh-CN" sz="4575" b="1" i="0">
                <a:solidFill>
                  <a:srgbClr val="011036"/>
                </a:solidFill>
                <a:latin typeface="Noto Sans SC" panose="020B0200000000000000" charset="-122"/>
                <a:ea typeface="Noto Sans SC" panose="020B0200000000000000" charset="-122"/>
              </a:rPr>
              <a:t>（初</a:t>
            </a:r>
            <a:r>
              <a:rPr lang="zh-CN" sz="4575" b="1" i="0">
                <a:solidFill>
                  <a:srgbClr val="011036"/>
                </a:solidFill>
                <a:latin typeface="Noto Sans SC" panose="020B0200000000000000" charset="-122"/>
                <a:ea typeface="Noto Sans SC" panose="020B0200000000000000" charset="-122"/>
              </a:rPr>
              <a:t>稿）</a:t>
            </a:r>
            <a:endParaRPr lang="zh-CN" sz="4575" b="1" i="0">
              <a:solidFill>
                <a:srgbClr val="01103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12265" y="2955988"/>
            <a:ext cx="3250215" cy="5786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10F34"/>
                </a:solidFill>
                <a:latin typeface="Noto Sans SC" panose="020B0200000000000000" charset="-122"/>
                <a:ea typeface="Noto Sans SC" panose="020B0200000000000000" charset="-122"/>
              </a:rPr>
              <a:t>项目阶段汇报</a:t>
            </a:r>
            <a:endParaRPr sz="4200" b="1" i="0">
              <a:solidFill>
                <a:srgbClr val="010F3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61563" y="3787235"/>
            <a:ext cx="5380863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383B42"/>
                </a:solidFill>
                <a:latin typeface="Noto Sans SC" panose="020B0200000000000000" charset="-122"/>
                <a:ea typeface="Noto Sans SC" panose="020B0200000000000000" charset="-122"/>
              </a:rPr>
              <a:t>模型优化进展、整改力度及后续计划</a:t>
            </a:r>
            <a:endParaRPr sz="2550" b="0" i="0">
              <a:solidFill>
                <a:srgbClr val="383B4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31684" y="5657850"/>
            <a:ext cx="3470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30305"/>
                </a:solidFill>
                <a:latin typeface="Noto Sans SC" panose="020B0200000000000000" charset="-122"/>
                <a:ea typeface="Noto Sans SC" panose="020B0200000000000000" charset="-122"/>
              </a:rPr>
              <a:t>燃管组/项目组·2026年7月</a:t>
            </a:r>
            <a:r>
              <a:rPr lang="en-US" sz="1875" b="0" i="0">
                <a:solidFill>
                  <a:srgbClr val="030305"/>
                </a:solidFill>
                <a:latin typeface="Noto Sans SC" panose="020B0200000000000000" charset="-122"/>
                <a:ea typeface="Noto Sans SC" panose="020B0200000000000000" charset="-122"/>
              </a:rPr>
              <a:t>30</a:t>
            </a:r>
            <a:r>
              <a:rPr sz="1875" b="0" i="0">
                <a:solidFill>
                  <a:srgbClr val="030305"/>
                </a:solidFill>
                <a:latin typeface="Noto Sans SC" panose="020B0200000000000000" charset="-122"/>
                <a:ea typeface="Noto Sans SC" panose="020B0200000000000000" charset="-122"/>
              </a:rPr>
              <a:t>日</a:t>
            </a:r>
            <a:endParaRPr sz="1875" b="0" i="0">
              <a:solidFill>
                <a:srgbClr val="03030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" y="63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59" y="4744783"/>
            <a:ext cx="8559474" cy="71170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538" y="2533078"/>
            <a:ext cx="8400747" cy="7032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2" y="3291310"/>
            <a:ext cx="8551164" cy="67609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655" y="5510806"/>
            <a:ext cx="8529066" cy="67146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9460" y="1819179"/>
            <a:ext cx="8579739" cy="6621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5"/>
            <a:ext cx="2116455" cy="138713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5859" y="0"/>
            <a:ext cx="1805199" cy="16194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4719" y="2948559"/>
            <a:ext cx="1235738" cy="1359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" y="5596813"/>
            <a:ext cx="1125093" cy="10776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281" y="498729"/>
            <a:ext cx="1366837" cy="8858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9802" y="2545461"/>
            <a:ext cx="1356929" cy="67608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9372" y="3291746"/>
            <a:ext cx="1343596" cy="66703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41944" y="4775907"/>
            <a:ext cx="1339881" cy="66755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3563" y="5518927"/>
            <a:ext cx="1325118" cy="66255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36229" y="1845980"/>
            <a:ext cx="1337786" cy="64746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29884" y="5959983"/>
            <a:ext cx="332599" cy="612933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87983" y="5961888"/>
            <a:ext cx="337708" cy="599313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31639" y="5212247"/>
            <a:ext cx="329755" cy="55116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0664" y="5210556"/>
            <a:ext cx="329678" cy="5303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5052" y="624554"/>
            <a:ext cx="1471231" cy="7715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775" b="1" i="0">
                <a:solidFill>
                  <a:srgbClr val="010F3B"/>
                </a:solidFill>
                <a:latin typeface="Noto Sans SC" panose="020B0200000000000000" charset="-122"/>
                <a:ea typeface="Noto Sans SC" panose="020B0200000000000000" charset="-122"/>
              </a:rPr>
              <a:t>目录</a:t>
            </a:r>
            <a:endParaRPr sz="5775" b="1" i="0">
              <a:solidFill>
                <a:srgbClr val="010F3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9320" y="1918970"/>
            <a:ext cx="634365" cy="5588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35AF2"/>
                </a:solidFill>
                <a:latin typeface="Noto Sans SC" panose="020B0200000000000000" charset="-122"/>
                <a:ea typeface="Noto Sans SC" panose="020B0200000000000000" charset="-122"/>
              </a:rPr>
              <a:t>01</a:t>
            </a:r>
            <a:endParaRPr sz="3000" b="1" i="0">
              <a:solidFill>
                <a:srgbClr val="035AF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495"/>
              </a:spcBef>
            </a:pPr>
            <a:r>
              <a:rPr lang="zh-CN" sz="3000" b="1">
                <a:latin typeface="Noto Sans SC" panose="020B0200000000000000" charset="-122"/>
                <a:ea typeface="Noto Sans SC" panose="020B0200000000000000" charset="-122"/>
              </a:rPr>
              <a:t>02</a:t>
            </a:r>
            <a:endParaRPr lang="zh-CN" sz="3000" b="1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495"/>
              </a:spcBef>
            </a:pPr>
            <a:r>
              <a:rPr lang="zh-CN" sz="3000" b="1">
                <a:latin typeface="Noto Sans SC" panose="020B0200000000000000" charset="-122"/>
                <a:ea typeface="Noto Sans SC" panose="020B0200000000000000" charset="-122"/>
              </a:rPr>
              <a:t>03</a:t>
            </a:r>
            <a:endParaRPr lang="zh-CN" sz="3000" b="1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495"/>
              </a:spcBef>
            </a:pPr>
            <a:r>
              <a:rPr lang="zh-CN" sz="3000" b="1">
                <a:latin typeface="Noto Sans SC" panose="020B0200000000000000" charset="-122"/>
                <a:ea typeface="Noto Sans SC" panose="020B0200000000000000" charset="-122"/>
              </a:rPr>
              <a:t>07</a:t>
            </a:r>
            <a:endParaRPr lang="zh-CN" sz="3000" b="1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31559" y="1918906"/>
            <a:ext cx="6420302" cy="40909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just">
              <a:spcBef>
                <a:spcPts val="0"/>
              </a:spcBef>
              <a:spcAft>
                <a:spcPts val="0"/>
              </a:spcAft>
            </a:pPr>
            <a:r>
              <a:rPr sz="2735" b="0" i="0">
                <a:solidFill>
                  <a:srgbClr val="01072B"/>
                </a:solidFill>
                <a:latin typeface="Noto Sans SC" panose="020B0200000000000000" charset="-122"/>
                <a:ea typeface="Noto Sans SC" panose="020B0200000000000000" charset="-122"/>
              </a:rPr>
              <a:t>项目全景概览:六大核心模型已全面上线</a:t>
            </a:r>
            <a:endParaRPr sz="2735" b="0" i="0">
              <a:solidFill>
                <a:srgbClr val="01072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50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上次会议建议落实追踪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74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各模块优化进度追踪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75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算法先进性介绍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75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未来工作计划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75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项目演示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7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8944" y="4902907"/>
            <a:ext cx="1339881" cy="667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87" y="4862638"/>
            <a:ext cx="9977818" cy="8334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07" y="1625066"/>
            <a:ext cx="1876139" cy="19523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919" y="1627713"/>
            <a:ext cx="1851374" cy="195131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834" y="1626393"/>
            <a:ext cx="1843986" cy="195357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346" y="1622204"/>
            <a:ext cx="1835467" cy="195909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1983" y="1629885"/>
            <a:ext cx="1836229" cy="194564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8266" y="3087624"/>
            <a:ext cx="606464" cy="4974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193" y="1806511"/>
            <a:ext cx="534447" cy="5344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4605" y="1808752"/>
            <a:ext cx="538638" cy="53387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5432" y="1809940"/>
            <a:ext cx="520889" cy="53044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912" y="1814893"/>
            <a:ext cx="516658" cy="52139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9465" y="1813845"/>
            <a:ext cx="508944" cy="52797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44235" y="5006483"/>
            <a:ext cx="516350" cy="516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86420" y="3120390"/>
            <a:ext cx="474860" cy="45586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4789" y="3134789"/>
            <a:ext cx="455199" cy="440974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9142" y="3118200"/>
            <a:ext cx="411003" cy="45824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15990" y="3147060"/>
            <a:ext cx="401720" cy="43519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34060" y="5978556"/>
            <a:ext cx="588110" cy="20231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87406" y="5978461"/>
            <a:ext cx="580746" cy="19992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0947" y="5981193"/>
            <a:ext cx="568261" cy="20056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9724" y="4433472"/>
            <a:ext cx="236124" cy="1605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9493" y="328326"/>
            <a:ext cx="4236434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72F"/>
                </a:solidFill>
                <a:latin typeface="Noto Sans SC" panose="020B0200000000000000" charset="-122"/>
                <a:ea typeface="Noto Sans SC" panose="020B0200000000000000" charset="-122"/>
              </a:rPr>
              <a:t>项目全景概览:六大核心模型矩阵</a:t>
            </a:r>
            <a:endParaRPr sz="2175" b="1" i="0">
              <a:solidFill>
                <a:srgbClr val="0007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6753" y="1095279"/>
            <a:ext cx="2240565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预测小模型(感知层)</a:t>
            </a:r>
            <a:endParaRPr sz="1950" b="0" i="0">
              <a:solidFill>
                <a:srgbClr val="0003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80688" y="1923478"/>
            <a:ext cx="215455" cy="2556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5DF6"/>
                </a:solidFill>
                <a:latin typeface="Noto Sans SC" panose="020B0200000000000000" charset="-122"/>
                <a:ea typeface="Noto Sans SC" panose="020B0200000000000000" charset="-122"/>
              </a:rPr>
              <a:t>2</a:t>
            </a:r>
            <a:endParaRPr sz="1500" b="1" i="0">
              <a:solidFill>
                <a:srgbClr val="085DF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47446" y="1923478"/>
            <a:ext cx="215455" cy="2556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56EF"/>
                </a:solidFill>
                <a:latin typeface="Noto Sans SC" panose="020B0200000000000000" charset="-122"/>
                <a:ea typeface="Noto Sans SC" panose="020B0200000000000000" charset="-122"/>
              </a:rPr>
              <a:t>5</a:t>
            </a:r>
            <a:endParaRPr sz="1500" b="1" i="0">
              <a:solidFill>
                <a:srgbClr val="0756E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03702" y="1924240"/>
            <a:ext cx="184594" cy="2541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858EE"/>
                </a:solidFill>
                <a:latin typeface="Noto Sans SC" panose="020B0200000000000000" charset="-122"/>
                <a:ea typeface="Noto Sans SC" panose="020B0200000000000000" charset="-122"/>
              </a:rPr>
              <a:t>3</a:t>
            </a:r>
            <a:endParaRPr sz="1350" b="1" i="0">
              <a:solidFill>
                <a:srgbClr val="0858E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59959" y="1925002"/>
            <a:ext cx="153828" cy="2526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5DF6"/>
                </a:solidFill>
                <a:latin typeface="Noto Sans SC" panose="020B0200000000000000" charset="-122"/>
                <a:ea typeface="Noto Sans SC" panose="020B0200000000000000" charset="-122"/>
              </a:rPr>
              <a:t>1</a:t>
            </a:r>
            <a:endParaRPr sz="1200" b="1" i="0">
              <a:solidFill>
                <a:srgbClr val="085DF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33750" y="2472213"/>
            <a:ext cx="1540192" cy="5342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国内北方港电煤</a:t>
            </a:r>
            <a:endParaRPr sz="1610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89535"/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价格预测模型</a:t>
            </a:r>
            <a:endParaRPr lang="zh-CN" sz="161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88328" y="2472213"/>
            <a:ext cx="1304162" cy="5342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220"/>
                </a:solidFill>
                <a:latin typeface="Noto Sans SC" panose="020B0200000000000000" charset="-122"/>
                <a:ea typeface="Noto Sans SC" panose="020B0200000000000000" charset="-122"/>
              </a:rPr>
              <a:t>国内煤炭海运</a:t>
            </a:r>
            <a:endParaRPr sz="1650" b="0" i="0">
              <a:solidFill>
                <a:srgbClr val="00022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18745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费预测模型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61838" y="2472975"/>
            <a:ext cx="1150143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10421"/>
                </a:solidFill>
                <a:latin typeface="Noto Sans SC" panose="020B0200000000000000" charset="-122"/>
                <a:ea typeface="Noto Sans SC" panose="020B0200000000000000" charset="-122"/>
              </a:rPr>
              <a:t>火电厂发电</a:t>
            </a:r>
            <a:endParaRPr sz="1725" b="0" i="0">
              <a:solidFill>
                <a:srgbClr val="0104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725">
                <a:latin typeface="Noto Sans SC" panose="020B0200000000000000" charset="-122"/>
                <a:ea typeface="Noto Sans SC" panose="020B0200000000000000" charset="-122"/>
              </a:rPr>
              <a:t>量预测模型</a:t>
            </a:r>
            <a:endParaRPr lang="zh-CN" sz="17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96175" y="2472975"/>
            <a:ext cx="1302734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国际煤炭海运</a:t>
            </a:r>
            <a:endParaRPr sz="1650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88900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费预测模型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6431" y="2473737"/>
            <a:ext cx="1740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进口煤价预测模型</a:t>
            </a:r>
            <a:endParaRPr sz="1575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2362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8536A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8536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94519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C566D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C566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46109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9546C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9546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92530" y="3637978"/>
            <a:ext cx="168078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404A64"/>
                </a:solidFill>
                <a:latin typeface="Noto Sans SC" panose="020B0200000000000000" charset="-122"/>
                <a:ea typeface="Noto Sans SC" panose="020B0200000000000000" charset="-122"/>
              </a:rPr>
              <a:t>跟踪国际海运成本变化</a:t>
            </a:r>
            <a:endParaRPr sz="1275" b="0" i="0">
              <a:solidFill>
                <a:srgbClr val="404A6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61277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8526B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8526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6753" y="4340637"/>
            <a:ext cx="2269902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10428"/>
                </a:solidFill>
                <a:latin typeface="Noto Sans SC" panose="020B0200000000000000" charset="-122"/>
                <a:ea typeface="Noto Sans SC" panose="020B0200000000000000" charset="-122"/>
              </a:rPr>
              <a:t>决策大模型(决策层)</a:t>
            </a:r>
            <a:endParaRPr sz="2025" b="1" i="0">
              <a:solidFill>
                <a:srgbClr val="0104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18021" y="5106733"/>
            <a:ext cx="1975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1B"/>
                </a:solidFill>
                <a:latin typeface="Noto Sans SC" panose="020B0200000000000000" charset="-122"/>
                <a:ea typeface="Noto Sans SC" panose="020B0200000000000000" charset="-122"/>
              </a:rPr>
              <a:t>电煤采需决策大模型</a:t>
            </a:r>
            <a:endParaRPr sz="1725" b="0" i="0">
              <a:solidFill>
                <a:srgbClr val="0001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74515" y="5106733"/>
            <a:ext cx="1946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320"/>
                </a:solidFill>
                <a:latin typeface="Noto Sans SC" panose="020B0200000000000000" charset="-122"/>
                <a:ea typeface="Noto Sans SC" panose="020B0200000000000000" charset="-122"/>
              </a:rPr>
              <a:t>已部署,多电厂并行</a:t>
            </a:r>
            <a:endParaRPr sz="1800" b="0" i="0">
              <a:solidFill>
                <a:srgbClr val="00032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82555" y="5917311"/>
            <a:ext cx="951452" cy="28803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21F"/>
                </a:solidFill>
                <a:latin typeface="Noto Sans SC" panose="020B0200000000000000" charset="-122"/>
                <a:ea typeface="Noto Sans SC" panose="020B0200000000000000" charset="-122"/>
              </a:rPr>
              <a:t>数据融合</a:t>
            </a:r>
            <a:endParaRPr sz="1725" b="0" i="0">
              <a:solidFill>
                <a:srgbClr val="0002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13021" y="5933408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感知层</a:t>
            </a:r>
            <a:endParaRPr sz="1875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85230" y="5942933"/>
            <a:ext cx="744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00021E"/>
                </a:solidFill>
                <a:latin typeface="Noto Sans SC" panose="020B0200000000000000" charset="-122"/>
                <a:ea typeface="Noto Sans SC" panose="020B0200000000000000" charset="-122"/>
              </a:rPr>
              <a:t>决策层</a:t>
            </a:r>
            <a:endParaRPr b="0" i="0">
              <a:solidFill>
                <a:srgbClr val="0002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52021" y="5933408"/>
            <a:ext cx="2327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1B"/>
                </a:solidFill>
                <a:latin typeface="Noto Sans SC" panose="020B0200000000000000" charset="-122"/>
                <a:ea typeface="Noto Sans SC" panose="020B0200000000000000" charset="-122"/>
              </a:rPr>
              <a:t>以电定煤动态测算输出</a:t>
            </a:r>
            <a:endParaRPr sz="1800" b="0" i="0">
              <a:solidFill>
                <a:srgbClr val="0001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72" y="1092136"/>
            <a:ext cx="2534298" cy="24059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25" y="3730759"/>
            <a:ext cx="2530316" cy="23971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996" y="1089825"/>
            <a:ext cx="2523077" cy="240406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307" y="1094613"/>
            <a:ext cx="2514300" cy="24000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520" y="3735633"/>
            <a:ext cx="2516314" cy="23973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5580" y="3734276"/>
            <a:ext cx="2512800" cy="239382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077" y="1095279"/>
            <a:ext cx="2505075" cy="2400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316" y="3733583"/>
            <a:ext cx="2506027" cy="23964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1465" y="5043177"/>
            <a:ext cx="1114234" cy="83329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95" y="5030369"/>
            <a:ext cx="893349" cy="87434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9291" y="5033391"/>
            <a:ext cx="843249" cy="83848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5147" y="2431750"/>
            <a:ext cx="881443" cy="80044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10582" y="2401638"/>
            <a:ext cx="849439" cy="8257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0735" y="2470990"/>
            <a:ext cx="888777" cy="73586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2784" y="5088159"/>
            <a:ext cx="852963" cy="7581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5669" y="2402014"/>
            <a:ext cx="635986" cy="83058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6167" y="3719128"/>
            <a:ext cx="645414" cy="29423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3938" y="1087183"/>
            <a:ext cx="669236" cy="28003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08676" y="3718324"/>
            <a:ext cx="649414" cy="28650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22855" y="5033010"/>
            <a:ext cx="425632" cy="43519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94898" y="3719082"/>
            <a:ext cx="653796" cy="281561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16200" y="1085713"/>
            <a:ext cx="643128" cy="28107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94802" y="1085981"/>
            <a:ext cx="649986" cy="27719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01025" y="1084918"/>
            <a:ext cx="638079" cy="28094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90378" y="1253436"/>
            <a:ext cx="231838" cy="31700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81489" y="1251871"/>
            <a:ext cx="223361" cy="31365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64694" y="1250945"/>
            <a:ext cx="226028" cy="30607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1866" y="3887819"/>
            <a:ext cx="216445" cy="30584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87174" y="3896201"/>
            <a:ext cx="213039" cy="30299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98665" y="3892511"/>
            <a:ext cx="213741" cy="30398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8411" y="1248822"/>
            <a:ext cx="156019" cy="3120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8830" y="389572"/>
            <a:ext cx="3357181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10634"/>
                </a:solidFill>
                <a:latin typeface="Noto Sans SC" panose="020B0200000000000000" charset="-122"/>
                <a:ea typeface="Noto Sans SC" panose="020B0200000000000000" charset="-122"/>
              </a:rPr>
              <a:t>上次会议建议落实总览</a:t>
            </a:r>
            <a:endParaRPr sz="2625" b="1" i="0">
              <a:solidFill>
                <a:srgbClr val="01063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76113" y="1128236"/>
            <a:ext cx="477678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6CC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66C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44618" y="1128236"/>
            <a:ext cx="477678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663380" y="1128998"/>
            <a:ext cx="505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61127" y="1128998"/>
            <a:ext cx="505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64590" y="1257300"/>
            <a:ext cx="1516380" cy="2971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1B"/>
                </a:solidFill>
                <a:latin typeface="Noto Sans SC" panose="020B0200000000000000" charset="-122"/>
                <a:ea typeface="Noto Sans SC" panose="020B0200000000000000" charset="-122"/>
              </a:rPr>
              <a:t>系统更名</a:t>
            </a:r>
            <a:endParaRPr sz="1800" b="0" i="0">
              <a:solidFill>
                <a:srgbClr val="0002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13200" y="1242060"/>
            <a:ext cx="1505585" cy="2921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10228"/>
                </a:solidFill>
                <a:latin typeface="Noto Sans SC" panose="020B0200000000000000" charset="-122"/>
                <a:ea typeface="Noto Sans SC" panose="020B0200000000000000" charset="-122"/>
              </a:rPr>
              <a:t>首页驾驶舱升级</a:t>
            </a:r>
            <a:endParaRPr sz="1800" b="1" i="0">
              <a:solidFill>
                <a:srgbClr val="0102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19615" y="1261745"/>
            <a:ext cx="1906905" cy="2921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发电量预测维度扩展</a:t>
            </a:r>
            <a:endParaRPr sz="1725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92753" y="1279017"/>
            <a:ext cx="1332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124"/>
                </a:solidFill>
                <a:latin typeface="Noto Sans SC" panose="020B0200000000000000" charset="-122"/>
                <a:ea typeface="Noto Sans SC" panose="020B0200000000000000" charset="-122"/>
              </a:rPr>
              <a:t>电量预测优化</a:t>
            </a:r>
            <a:endParaRPr sz="1650" b="1" i="0">
              <a:solidFill>
                <a:srgbClr val="0001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9838" y="1646396"/>
            <a:ext cx="1900237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0021B"/>
                </a:solidFill>
                <a:latin typeface="Noto Sans SC" panose="020B0200000000000000" charset="-122"/>
                <a:ea typeface="Noto Sans SC" panose="020B0200000000000000" charset="-122"/>
              </a:rPr>
              <a:t>命名为华电福建公司采</a:t>
            </a:r>
            <a:endParaRPr sz="1385" b="0" i="0">
              <a:solidFill>
                <a:srgbClr val="00021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需决策系统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74090" y="1646396"/>
            <a:ext cx="2094071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21C"/>
                </a:solidFill>
                <a:latin typeface="Noto Sans SC" panose="020B0200000000000000" charset="-122"/>
                <a:ea typeface="Noto Sans SC" panose="020B0200000000000000" charset="-122"/>
              </a:rPr>
              <a:t>新增关键指标看板、煤价</a:t>
            </a:r>
            <a:endParaRPr sz="1350" b="0" i="0">
              <a:solidFill>
                <a:srgbClr val="0002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350">
                <a:latin typeface="Noto Sans SC" panose="020B0200000000000000" charset="-122"/>
                <a:ea typeface="Noto Sans SC" panose="020B0200000000000000" charset="-122"/>
              </a:rPr>
              <a:t>趋势折线图、优化坐标轴</a:t>
            </a:r>
            <a:endParaRPr lang="zh-CN" sz="13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7680" y="1646396"/>
            <a:ext cx="1966745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新增机组停机状态识别,</a:t>
            </a:r>
            <a:endParaRPr sz="142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别除无效数据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72600" y="1677733"/>
            <a:ext cx="1887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增加月度累计与季度累</a:t>
            </a:r>
            <a:endParaRPr sz="1425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 rot="143400">
            <a:off x="9368790" y="1933098"/>
            <a:ext cx="956119" cy="2350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计预测功能</a:t>
            </a:r>
            <a:endParaRPr sz="1500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661856" y="3760374"/>
            <a:ext cx="508444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30362" y="3760374"/>
            <a:ext cx="508444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47538" y="3761994"/>
            <a:ext cx="534828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045380" y="3761994"/>
            <a:ext cx="505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44501" y="3893248"/>
            <a:ext cx="1129474" cy="2964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7报表功能</a:t>
            </a:r>
            <a:endParaRPr sz="1800" b="1" i="0">
              <a:solidFill>
                <a:srgbClr val="0001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00570" y="3893820"/>
            <a:ext cx="1513046" cy="29251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    </a:t>
            </a:r>
            <a:r>
              <a:rPr sz="17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燃煤联动显示</a:t>
            </a:r>
            <a:endParaRPr sz="1725" b="1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94087" y="3900392"/>
            <a:ext cx="1743741" cy="28803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124"/>
                </a:solidFill>
                <a:latin typeface="Noto Sans SC" panose="020B0200000000000000" charset="-122"/>
                <a:ea typeface="Noto Sans SC" panose="020B0200000000000000" charset="-122"/>
              </a:rPr>
              <a:t>价格预测模型优化</a:t>
            </a:r>
            <a:endParaRPr sz="1650" b="1" i="0">
              <a:solidFill>
                <a:srgbClr val="0001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88218" y="3902011"/>
            <a:ext cx="2097214" cy="28479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1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    </a:t>
            </a:r>
            <a:r>
              <a:rPr sz="1650" b="1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发电量预测维度扩展</a:t>
            </a:r>
            <a:endParaRPr sz="1650" b="1" i="0">
              <a:solidFill>
                <a:srgbClr val="0002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58343" y="4279392"/>
            <a:ext cx="1963745" cy="77838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1C"/>
                </a:solidFill>
                <a:latin typeface="Noto Sans SC" panose="020B0200000000000000" charset="-122"/>
                <a:ea typeface="Noto Sans SC" panose="020B0200000000000000" charset="-122"/>
              </a:rPr>
              <a:t>焦煤系数比例提升,纳</a:t>
            </a:r>
            <a:endParaRPr sz="1500" b="0" i="0">
              <a:solidFill>
                <a:srgbClr val="0002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/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入国家政策与国际形势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因素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0600" y="4310729"/>
            <a:ext cx="2063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增加月度累计与季度累计</a:t>
            </a:r>
            <a:endParaRPr sz="135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74852" y="4310729"/>
            <a:ext cx="1963745" cy="50215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以电定煤,自动折算燃</a:t>
            </a:r>
            <a:endParaRPr sz="146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煤需求并可视化联动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373362" y="4311491"/>
            <a:ext cx="1885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支持一键导出对比报表</a:t>
            </a:r>
            <a:endParaRPr sz="142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 rot="21450600">
            <a:off x="963453" y="4541615"/>
            <a:ext cx="774287" cy="25688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预测功能</a:t>
            </a:r>
            <a:endParaRPr sz="150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859940" y="6332124"/>
            <a:ext cx="253069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所有建议事项已100%完成落实</a:t>
            </a:r>
            <a:endParaRPr sz="1350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80" y="4506840"/>
            <a:ext cx="6571488" cy="14904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919" y="654081"/>
            <a:ext cx="1135352" cy="1387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41" y="5428353"/>
            <a:ext cx="1129855" cy="9248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313" y="6173819"/>
            <a:ext cx="1159305" cy="6841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0480" y="830032"/>
            <a:ext cx="526065" cy="51658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557385"/>
            <a:ext cx="488442" cy="4362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7677" y="6231159"/>
            <a:ext cx="462401" cy="44824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75" y="6468113"/>
            <a:ext cx="478726" cy="22751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2533" y="6601301"/>
            <a:ext cx="404061" cy="2566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2240" y="389572"/>
            <a:ext cx="3679602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20B39"/>
                </a:solidFill>
                <a:latin typeface="Noto Sans SC" panose="020B0200000000000000" charset="-122"/>
                <a:ea typeface="Noto Sans SC" panose="020B0200000000000000" charset="-122"/>
              </a:rPr>
              <a:t>系统命名与界面总览优化</a:t>
            </a:r>
            <a:endParaRPr sz="2625" b="1" i="0">
              <a:solidFill>
                <a:srgbClr val="020B3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1837" y="1462659"/>
            <a:ext cx="1009650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52C"/>
                </a:solidFill>
                <a:latin typeface="Noto Sans SC" panose="020B0200000000000000" charset="-122"/>
                <a:ea typeface="Noto Sans SC" panose="020B0200000000000000" charset="-122"/>
              </a:rPr>
              <a:t>系统更名</a:t>
            </a:r>
            <a:endParaRPr sz="1950" b="1" i="0">
              <a:solidFill>
                <a:srgbClr val="0005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1837" y="1830038"/>
            <a:ext cx="6338292" cy="5947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正式命名为「华电福建公司采需决策系统」,强化属地属性</a:t>
            </a:r>
            <a:endParaRPr sz="1875" b="0" i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380"/>
              </a:spcBef>
            </a:pPr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与业务关联性</a:t>
            </a:r>
            <a:endParaRPr lang="zh-CN" sz="18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51837" y="2871025"/>
            <a:ext cx="1742312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52C"/>
                </a:solidFill>
                <a:latin typeface="Noto Sans SC" panose="020B0200000000000000" charset="-122"/>
                <a:ea typeface="Noto Sans SC" panose="020B0200000000000000" charset="-122"/>
              </a:rPr>
              <a:t>首页驾驶舱升级</a:t>
            </a:r>
            <a:endParaRPr sz="1875" b="1" i="0">
              <a:solidFill>
                <a:srgbClr val="0005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51837" y="3238404"/>
            <a:ext cx="5874734" cy="9629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主界面新增关键指标总览看板,核心经营数据一屏掌握</a:t>
            </a:r>
            <a:endParaRPr sz="1800" b="0" i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7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增加煤价趋势折线图,支持近期与历史煤价波动展示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7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优化坐标轴展示逻辑,图表数据可读性与对比性显著增强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51837" y="4616100"/>
            <a:ext cx="1771650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52C"/>
                </a:solidFill>
                <a:latin typeface="Noto Sans SC" panose="020B0200000000000000" charset="-122"/>
                <a:ea typeface="Noto Sans SC" panose="020B0200000000000000" charset="-122"/>
              </a:rPr>
              <a:t>界面兼容性优化</a:t>
            </a:r>
            <a:endParaRPr sz="1950" b="1" i="0">
              <a:solidFill>
                <a:srgbClr val="0005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79746" y="4975288"/>
            <a:ext cx="5555075" cy="3172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已兼容Edge、360等主流浏览器,前端展示稳定性提升</a:t>
            </a:r>
            <a:endParaRPr sz="1875" b="0" i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636" y="1601819"/>
            <a:ext cx="3644721" cy="2174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101" y="1606337"/>
            <a:ext cx="3656171" cy="21613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245" y="3935624"/>
            <a:ext cx="3633978" cy="21670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436" y="3938808"/>
            <a:ext cx="3641598" cy="215639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37" y="1610537"/>
            <a:ext cx="3598068" cy="216550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31" y="3934725"/>
            <a:ext cx="3593306" cy="216837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1344" y="2293620"/>
            <a:ext cx="1186318" cy="123872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2144" y="4657776"/>
            <a:ext cx="1230915" cy="118814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1321" y="2291810"/>
            <a:ext cx="1126463" cy="119300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4825" y="4656779"/>
            <a:ext cx="1058227" cy="114879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505" y="4701063"/>
            <a:ext cx="1083715" cy="111223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01962" y="2315622"/>
            <a:ext cx="1037190" cy="114661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08665" y="1004601"/>
            <a:ext cx="1182806" cy="77428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9550" y="3245167"/>
            <a:ext cx="1066714" cy="3982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4161" y="3209829"/>
            <a:ext cx="1062636" cy="38900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9699" y="5540265"/>
            <a:ext cx="1068609" cy="37994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5694" y="5540008"/>
            <a:ext cx="1066895" cy="381033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369" y="3209939"/>
            <a:ext cx="943832" cy="386113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5076" y="5553509"/>
            <a:ext cx="942403" cy="3855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962" y="417099"/>
            <a:ext cx="4594002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>
                <a:solidFill>
                  <a:srgbClr val="010938"/>
                </a:solidFill>
                <a:latin typeface="Noto Sans SC" panose="020B0200000000000000" charset="-122"/>
                <a:ea typeface="Noto Sans SC" panose="020B0200000000000000" charset="-122"/>
              </a:rPr>
              <a:t>各模块优化进度追踪</a:t>
            </a:r>
            <a:endParaRPr lang="zh-CN" sz="3600" b="1" i="0">
              <a:solidFill>
                <a:srgbClr val="01093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3105" y="1065466"/>
            <a:ext cx="4202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8"/>
                </a:solidFill>
                <a:latin typeface="Noto Sans SC" panose="020B0200000000000000" charset="-122"/>
                <a:ea typeface="Noto Sans SC" panose="020B0200000000000000" charset="-122"/>
              </a:rPr>
              <a:t>五大预测子模型+决策</a:t>
            </a:r>
            <a:r>
              <a:rPr lang="zh-CN" sz="1875" b="0" i="0">
                <a:solidFill>
                  <a:srgbClr val="000228"/>
                </a:solidFill>
                <a:latin typeface="Noto Sans SC" panose="020B0200000000000000" charset="-122"/>
                <a:ea typeface="Noto Sans SC" panose="020B0200000000000000" charset="-122"/>
              </a:rPr>
              <a:t>大</a:t>
            </a:r>
            <a:r>
              <a:rPr sz="1875" b="0" i="0">
                <a:solidFill>
                  <a:srgbClr val="000228"/>
                </a:solidFill>
                <a:latin typeface="Noto Sans SC" panose="020B0200000000000000" charset="-122"/>
                <a:ea typeface="Noto Sans SC" panose="020B0200000000000000" charset="-122"/>
              </a:rPr>
              <a:t>模型全面升级</a:t>
            </a:r>
            <a:endParaRPr sz="1875" b="0" i="0">
              <a:solidFill>
                <a:srgbClr val="0002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7413" y="1737455"/>
            <a:ext cx="3121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42E"/>
                </a:solidFill>
                <a:latin typeface="Noto Sans SC" panose="020B0200000000000000" charset="-122"/>
                <a:ea typeface="Noto Sans SC" panose="020B0200000000000000" charset="-122"/>
              </a:rPr>
              <a:t>国内北方港煤价预测模型</a:t>
            </a:r>
            <a:endParaRPr sz="2025" b="1" i="0">
              <a:solidFill>
                <a:srgbClr val="00042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6753" y="1768887"/>
            <a:ext cx="2064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发电量预测模型</a:t>
            </a:r>
            <a:endParaRPr sz="2025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48175" y="1768887"/>
            <a:ext cx="232848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进口煤价预测模型</a:t>
            </a:r>
            <a:endParaRPr sz="2100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58810" y="2228850"/>
            <a:ext cx="1910080" cy="85153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sz="1500" b="1" i="0">
              <a:solidFill>
                <a:srgbClr val="00022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145"/>
              </a:spcBef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多指数趋势对齐、焦煤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145"/>
              </a:spcBef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系数提升、</a:t>
            </a:r>
            <a:r>
              <a:rPr lang="zh-CN" sz="1500">
                <a:latin typeface="Noto Sans SC" panose="020B0200000000000000" charset="-122"/>
                <a:ea typeface="Noto Sans SC" panose="020B0200000000000000" charset="-122"/>
                <a:sym typeface="+mn-ea"/>
              </a:rPr>
              <a:t>季度变化规律</a:t>
            </a:r>
            <a:endParaRPr lang="zh-CN" sz="150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just">
              <a:spcBef>
                <a:spcPts val="145"/>
              </a:spcBef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  <a:sym typeface="+mn-ea"/>
              </a:rPr>
              <a:t>捕捉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145"/>
              </a:spcBef>
            </a:pP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marL="118110">
              <a:spcBef>
                <a:spcPts val="1840"/>
              </a:spcBef>
            </a:pP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9227" y="2229612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0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00" b="0" i="0">
              <a:solidFill>
                <a:srgbClr val="0003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49603" y="2229612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1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00" b="1" i="0">
              <a:solidFill>
                <a:srgbClr val="0003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" y="2503646"/>
            <a:ext cx="2000250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停机状态识别、小样本</a:t>
            </a:r>
            <a:endParaRPr sz="1460" b="0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学习、长周期预测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48175" y="2503805"/>
            <a:ext cx="2324735" cy="533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特征优化、</a:t>
            </a:r>
            <a:r>
              <a:rPr lang="zh-CN"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多指数</a:t>
            </a:r>
            <a:r>
              <a:rPr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趋势</a:t>
            </a:r>
            <a:endParaRPr sz="1425" b="0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对齐、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季度变化规律捕捉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4772" y="3251549"/>
            <a:ext cx="567118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功能实现</a:t>
            </a:r>
            <a:endParaRPr lang="zh-CN" sz="135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66856" y="3270599"/>
            <a:ext cx="772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" y="4095654"/>
            <a:ext cx="3119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国际煤炭海运费预测模型</a:t>
            </a:r>
            <a:endParaRPr sz="2025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48175" y="4095654"/>
            <a:ext cx="3119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国内煤炭海运费预测模型</a:t>
            </a:r>
            <a:endParaRPr sz="2025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8175" y="4095654"/>
            <a:ext cx="259222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42D"/>
                </a:solidFill>
                <a:latin typeface="Noto Sans SC" panose="020B0200000000000000" charset="-122"/>
                <a:ea typeface="Noto Sans SC" panose="020B0200000000000000" charset="-122"/>
              </a:rPr>
              <a:t>电煤采需决策大模型</a:t>
            </a:r>
            <a:endParaRPr sz="2100" b="1" i="0">
              <a:solidFill>
                <a:srgbClr val="0004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8940" y="4556474"/>
            <a:ext cx="801528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328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75" b="0" i="0">
                <a:solidFill>
                  <a:srgbClr val="000328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75" b="0" i="0">
              <a:solidFill>
                <a:srgbClr val="0003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49603" y="4556474"/>
            <a:ext cx="772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1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00" b="1" i="0">
              <a:solidFill>
                <a:srgbClr val="0003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58175" y="4609465"/>
            <a:ext cx="2000250" cy="8489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270" algn="just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核心提升：</a:t>
            </a:r>
            <a:endParaRPr sz="1500" b="1" i="0">
              <a:solidFill>
                <a:srgbClr val="00032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多电厂并行决策、长周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期推演、逻辑一致性对齐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8178" y="4831175"/>
            <a:ext cx="1916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特征精简、多场景验证</a:t>
            </a:r>
            <a:endParaRPr sz="1500" b="0" i="0">
              <a:solidFill>
                <a:srgbClr val="0002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48937" y="4831175"/>
            <a:ext cx="1916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特征精简、多场景验证</a:t>
            </a:r>
            <a:endParaRPr sz="1500" b="0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8563" y="5588476"/>
            <a:ext cx="801528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66856" y="5597366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3772" y="6332124"/>
            <a:ext cx="3644455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6" name="TextBox 32"/>
          <p:cNvSpPr txBox="1"/>
          <p:nvPr/>
        </p:nvSpPr>
        <p:spPr>
          <a:xfrm>
            <a:off x="8423211" y="3297904"/>
            <a:ext cx="772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7" name="TextBox 42"/>
          <p:cNvSpPr txBox="1"/>
          <p:nvPr/>
        </p:nvSpPr>
        <p:spPr>
          <a:xfrm>
            <a:off x="8432736" y="5601811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性能强化</a:t>
            </a:r>
            <a:endParaRPr lang="zh-CN"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59341" y="1587805"/>
            <a:ext cx="2517171" cy="44585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57440" y="1588198"/>
            <a:ext cx="2508122" cy="44594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817292" y="1587752"/>
            <a:ext cx="2507551" cy="445363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16344" y="1597772"/>
            <a:ext cx="2501265" cy="444140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9784" y="0"/>
            <a:ext cx="2728229" cy="114547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80497" y="3992784"/>
            <a:ext cx="1893347" cy="144141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65333" y="4153566"/>
            <a:ext cx="1758433" cy="140674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311163" y="2062157"/>
            <a:ext cx="1588103" cy="146447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4037" y="551"/>
            <a:ext cx="1840039" cy="1167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016406" y="1892096"/>
            <a:ext cx="1567719" cy="130168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487184"/>
            <a:ext cx="1269396" cy="14120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25417" y="1835277"/>
            <a:ext cx="865248" cy="194443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68873" y="4048696"/>
            <a:ext cx="1113070" cy="117490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887527" y="4163639"/>
            <a:ext cx="1026985" cy="116962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73053" y="1885208"/>
            <a:ext cx="718947" cy="1590253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84933" y="6224664"/>
            <a:ext cx="1209198" cy="63316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68600" y="6214935"/>
            <a:ext cx="409384" cy="48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3240" y="695706"/>
            <a:ext cx="5144928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75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发</a:t>
            </a:r>
            <a:r>
              <a:rPr sz="2475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电量预测模型</a:t>
            </a:r>
            <a:r>
              <a:rPr lang="zh-CN" sz="2475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：停机状态识别、小样本学习、长周期预测</a:t>
            </a:r>
            <a:endParaRPr lang="zh-CN" sz="2475" b="1" i="0">
              <a:solidFill>
                <a:srgbClr val="0003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29"/>
            </p:custDataLst>
          </p:nvPr>
        </p:nvSpPr>
        <p:spPr>
          <a:xfrm>
            <a:off x="1078515" y="1861470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30"/>
            </p:custDataLst>
          </p:nvPr>
        </p:nvSpPr>
        <p:spPr>
          <a:xfrm>
            <a:off x="6383178" y="1861470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75" b="1" i="0">
              <a:solidFill>
                <a:srgbClr val="01042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31"/>
            </p:custDataLst>
          </p:nvPr>
        </p:nvSpPr>
        <p:spPr>
          <a:xfrm>
            <a:off x="1004220" y="1774190"/>
            <a:ext cx="2070258" cy="10218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机组停机状态识别: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新增停机状态自动识别功能,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根据电厂实时的运行状态和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检修计划，从预测结果中剔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除停机机组，保障预测准确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32"/>
            </p:custDataLst>
          </p:nvPr>
        </p:nvSpPr>
        <p:spPr>
          <a:xfrm>
            <a:off x="6382512" y="2228850"/>
            <a:ext cx="2160270" cy="154228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lang="zh-CN"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功能</a:t>
            </a: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扩展: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 b="0" i="0">
                <a:latin typeface="Noto Sans SC" panose="020B0200000000000000" charset="-122"/>
                <a:ea typeface="Noto Sans SC" panose="020B0200000000000000" charset="-122"/>
              </a:rPr>
              <a:t>增加月度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累计发电量预测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功能，并基于发电量预测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值，在采需决策模型后台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自动折算燃煤消耗需求，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实现以电定煤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33"/>
            </p:custDataLst>
          </p:nvPr>
        </p:nvSpPr>
        <p:spPr>
          <a:xfrm>
            <a:off x="3727291" y="3193986"/>
            <a:ext cx="2070258" cy="20313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小样本学习能力突破: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针对可门新机组等数据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不足场景，开发基于</a:t>
            </a:r>
            <a:r>
              <a:rPr lang="en-US" altLang="zh-CN" sz="1425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Fine-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tuning</a:t>
            </a:r>
            <a:r>
              <a:rPr lang="en-US" altLang="zh-CN" sz="1425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微调的小样本发电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量预测模型，确保在少量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数据下仍能训练出合理的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预测模型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34"/>
            </p:custDataLst>
          </p:nvPr>
        </p:nvSpPr>
        <p:spPr>
          <a:xfrm>
            <a:off x="9050178" y="3759612"/>
            <a:ext cx="1447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10423"/>
                </a:solidFill>
                <a:latin typeface="Noto Sans SC" panose="020B0200000000000000" charset="-122"/>
                <a:ea typeface="Noto Sans SC" panose="020B0200000000000000" charset="-122"/>
              </a:rPr>
              <a:t>预测周期延长:</a:t>
            </a:r>
            <a:endParaRPr sz="1725" b="1" i="0">
              <a:solidFill>
                <a:srgbClr val="01042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35"/>
            </p:custDataLst>
          </p:nvPr>
        </p:nvSpPr>
        <p:spPr>
          <a:xfrm>
            <a:off x="9050178" y="4096416"/>
            <a:ext cx="2033968" cy="4707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54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 b="0" i="0">
                <a:latin typeface="Noto Sans SC" panose="020B0200000000000000" charset="-122"/>
                <a:ea typeface="Noto Sans SC" panose="020B0200000000000000" charset="-122"/>
              </a:rPr>
              <a:t>发电量预测输出周期已从</a:t>
            </a:r>
            <a:endParaRPr lang="zh-CN" sz="1425" b="0" i="0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单个自然月扩展至多个自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然月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96774" y="1286758"/>
            <a:ext cx="5565552" cy="24994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0437" y="1291892"/>
            <a:ext cx="5548026" cy="24954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98235" y="4004310"/>
            <a:ext cx="5551805" cy="26752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7515" y="4010025"/>
            <a:ext cx="5530215" cy="26695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072410" y="1382268"/>
            <a:ext cx="698152" cy="5841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053869" y="4099512"/>
            <a:ext cx="667321" cy="55768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884503" y="4102538"/>
            <a:ext cx="606266" cy="5636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1041094" y="1385443"/>
            <a:ext cx="556545" cy="60886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405814" y="1586198"/>
            <a:ext cx="394914" cy="40443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472789" y="4347210"/>
            <a:ext cx="329926" cy="358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387" y="417861"/>
            <a:ext cx="7787068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煤价与运费预测模型</a:t>
            </a:r>
            <a:r>
              <a:rPr lang="zh-CN"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特征优化</a:t>
            </a:r>
            <a:r>
              <a:rPr lang="zh-CN"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、</a:t>
            </a:r>
            <a:r>
              <a:rPr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趋势对齐</a:t>
            </a:r>
            <a:r>
              <a:rPr lang="zh-CN"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、规律捕捉</a:t>
            </a:r>
            <a:endParaRPr lang="zh-CN" sz="3225" b="1" i="0">
              <a:solidFill>
                <a:srgbClr val="01083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22"/>
            </p:custDataLst>
          </p:nvPr>
        </p:nvSpPr>
        <p:spPr>
          <a:xfrm>
            <a:off x="6379559" y="1490281"/>
            <a:ext cx="4503134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2625" b="1" i="0">
              <a:solidFill>
                <a:srgbClr val="0004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23"/>
            </p:custDataLst>
          </p:nvPr>
        </p:nvSpPr>
        <p:spPr>
          <a:xfrm>
            <a:off x="6399117" y="1324133"/>
            <a:ext cx="2655284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625" b="1" i="0">
                <a:solidFill>
                  <a:srgbClr val="00052A"/>
                </a:solidFill>
                <a:latin typeface="Noto Sans SC" panose="020B0200000000000000" charset="-122"/>
                <a:ea typeface="Noto Sans SC" panose="020B0200000000000000" charset="-122"/>
              </a:rPr>
              <a:t>相关</a:t>
            </a:r>
            <a:r>
              <a:rPr sz="2625" b="1" i="0">
                <a:solidFill>
                  <a:srgbClr val="00052A"/>
                </a:solidFill>
                <a:latin typeface="Noto Sans SC" panose="020B0200000000000000" charset="-122"/>
                <a:ea typeface="Noto Sans SC" panose="020B0200000000000000" charset="-122"/>
              </a:rPr>
              <a:t>指数趋势对齐</a:t>
            </a:r>
            <a:endParaRPr sz="2625" b="1" i="0">
              <a:solidFill>
                <a:srgbClr val="0005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24"/>
            </p:custDataLst>
          </p:nvPr>
        </p:nvSpPr>
        <p:spPr>
          <a:xfrm>
            <a:off x="474186" y="1814544"/>
            <a:ext cx="5142738" cy="145427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对近期数据进行更新。剔除易煤北方港、长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江口等已失效的过时特征，并引入国际基准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指数、航运状态等量化特征，提升国际形势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对煤价与运费的影响因子。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25"/>
            </p:custDataLst>
          </p:nvPr>
        </p:nvSpPr>
        <p:spPr>
          <a:xfrm>
            <a:off x="6352413" y="1814544"/>
            <a:ext cx="5418677" cy="14228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针对进口煤各指数、北方港煤各指数之间明确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的联合涨跌规律，在预测模型中添加一致性涨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跌约束。在降低特征噪声、缓解指数间走势偏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移的同时，提升推理效率及趋势拟合精度。</a:t>
            </a:r>
            <a:endParaRPr lang="zh-CN" sz="20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26"/>
            </p:custDataLst>
          </p:nvPr>
        </p:nvSpPr>
        <p:spPr>
          <a:xfrm>
            <a:off x="578834" y="1291558"/>
            <a:ext cx="2070544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429"/>
                </a:solidFill>
                <a:latin typeface="Noto Sans SC" panose="020B0200000000000000" charset="-122"/>
                <a:ea typeface="Noto Sans SC" panose="020B0200000000000000" charset="-122"/>
              </a:rPr>
              <a:t>特征</a:t>
            </a:r>
            <a:r>
              <a:rPr lang="zh-CN" sz="2700" b="1" i="0">
                <a:solidFill>
                  <a:srgbClr val="000429"/>
                </a:solidFill>
                <a:latin typeface="Noto Sans SC" panose="020B0200000000000000" charset="-122"/>
                <a:ea typeface="Noto Sans SC" panose="020B0200000000000000" charset="-122"/>
              </a:rPr>
              <a:t>库</a:t>
            </a:r>
            <a:r>
              <a:rPr sz="2700" b="1" i="0">
                <a:solidFill>
                  <a:srgbClr val="000429"/>
                </a:solidFill>
                <a:latin typeface="Noto Sans SC" panose="020B0200000000000000" charset="-122"/>
                <a:ea typeface="Noto Sans SC" panose="020B0200000000000000" charset="-122"/>
              </a:rPr>
              <a:t>优化</a:t>
            </a:r>
            <a:endParaRPr sz="2700" b="1" i="0">
              <a:solidFill>
                <a:srgbClr val="0004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27"/>
            </p:custDataLst>
          </p:nvPr>
        </p:nvSpPr>
        <p:spPr>
          <a:xfrm>
            <a:off x="606647" y="4100290"/>
            <a:ext cx="280177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1062D"/>
                </a:solidFill>
                <a:latin typeface="Noto Sans SC" panose="020B0200000000000000" charset="-122"/>
                <a:ea typeface="Noto Sans SC" panose="020B0200000000000000" charset="-122"/>
              </a:rPr>
              <a:t>焦煤预测系数提升</a:t>
            </a:r>
            <a:endParaRPr sz="2700" b="1" i="0">
              <a:solidFill>
                <a:srgbClr val="0106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28"/>
            </p:custDataLst>
          </p:nvPr>
        </p:nvSpPr>
        <p:spPr>
          <a:xfrm>
            <a:off x="606266" y="4705731"/>
            <a:ext cx="5138642" cy="68884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60" b="0" i="0">
                <a:latin typeface="Noto Sans SC" panose="020B0200000000000000" charset="-122"/>
                <a:ea typeface="Noto Sans SC" panose="020B0200000000000000" charset="-122"/>
              </a:rPr>
              <a:t>数据库中的焦煤相关特征对煤价预测的影响</a:t>
            </a:r>
            <a:endParaRPr lang="zh-CN" altLang="en-US" sz="2060" b="0" i="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60" b="0" i="0">
                <a:latin typeface="Noto Sans SC" panose="020B0200000000000000" charset="-122"/>
                <a:ea typeface="Noto Sans SC" panose="020B0200000000000000" charset="-122"/>
              </a:rPr>
              <a:t>因子已按需</a:t>
            </a: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需提升,增强模型对焦煤品种的价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格敏感度</a:t>
            </a:r>
            <a:r>
              <a:rPr lang="zh-CN" sz="2100">
                <a:latin typeface="Noto Sans SC" panose="020B0200000000000000" charset="-122"/>
                <a:ea typeface="Noto Sans SC" panose="020B0200000000000000" charset="-122"/>
              </a:rPr>
              <a:t>。</a:t>
            </a:r>
            <a:endParaRPr lang="zh-CN" sz="21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29"/>
            </p:custDataLst>
          </p:nvPr>
        </p:nvSpPr>
        <p:spPr>
          <a:xfrm>
            <a:off x="6357493" y="4581906"/>
            <a:ext cx="5133641" cy="105556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通过显式注入月份信息，模型能够区分不同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时期的价格形态。训练时，对关键季节</a:t>
            </a:r>
            <a:r>
              <a:rPr lang="en-US" altLang="zh-CN" sz="2175"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月份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提高损失权重，强化旺淡季与换季阶段的拟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合，实现稳定捕捉月度与季节变化规律。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14"/>
          <p:cNvSpPr txBox="1"/>
          <p:nvPr>
            <p:custDataLst>
              <p:tags r:id="rId30"/>
            </p:custDataLst>
          </p:nvPr>
        </p:nvSpPr>
        <p:spPr>
          <a:xfrm>
            <a:off x="6352762" y="4100353"/>
            <a:ext cx="2655284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625" b="1" i="0">
                <a:solidFill>
                  <a:srgbClr val="00052A"/>
                </a:solidFill>
                <a:latin typeface="Noto Sans SC" panose="020B0200000000000000" charset="-122"/>
                <a:ea typeface="Noto Sans SC" panose="020B0200000000000000" charset="-122"/>
              </a:rPr>
              <a:t>捕捉月度与季节变化规律</a:t>
            </a:r>
            <a:endParaRPr sz="2625" b="1" i="0">
              <a:solidFill>
                <a:srgbClr val="0005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554" y="4457321"/>
            <a:ext cx="2452401" cy="168572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09" y="4461334"/>
            <a:ext cx="2452782" cy="16812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74" y="4459414"/>
            <a:ext cx="2448378" cy="167820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64" y="4459033"/>
            <a:ext cx="2441367" cy="168468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77" y="1976437"/>
            <a:ext cx="10511701" cy="20269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6461" y="4461825"/>
            <a:ext cx="2420302" cy="70374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4457894"/>
            <a:ext cx="2429637" cy="69893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022" y="4454937"/>
            <a:ext cx="2415537" cy="6976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902" y="4453604"/>
            <a:ext cx="2414587" cy="69532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2370" y="6233264"/>
            <a:ext cx="1080230" cy="62339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323" y="266"/>
            <a:ext cx="708183" cy="54658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4743" y="516255"/>
            <a:ext cx="704134" cy="53873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4022" y="1158738"/>
            <a:ext cx="550449" cy="588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1383" y="1986629"/>
            <a:ext cx="209645" cy="20964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8420" y="1988347"/>
            <a:ext cx="210407" cy="20573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0885" y="1989677"/>
            <a:ext cx="205644" cy="20564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1778" y="1987720"/>
            <a:ext cx="209264" cy="20450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63" y="1994677"/>
            <a:ext cx="199358" cy="19935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35915" y="1990344"/>
            <a:ext cx="189682" cy="1991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5325" y="695960"/>
            <a:ext cx="3905250" cy="7823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采需决策大模型</a:t>
            </a:r>
            <a:r>
              <a:rPr lang="zh-CN" sz="23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：并行推理与逻辑优化</a:t>
            </a:r>
            <a:endParaRPr lang="zh-CN" sz="2325" b="1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88606" y="2316670"/>
            <a:ext cx="783431" cy="2774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i="0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后续</a:t>
            </a:r>
            <a:endParaRPr lang="zh-CN" sz="1650" i="0">
              <a:solidFill>
                <a:srgbClr val="00011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0596" y="2319909"/>
            <a:ext cx="80448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6月中旬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71431" y="2320671"/>
            <a:ext cx="568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6月初</a:t>
            </a:r>
            <a:endParaRPr sz="16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05600" y="2320671"/>
            <a:ext cx="568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6月底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4347" y="2351341"/>
            <a:ext cx="597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5月底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93474" y="2300668"/>
            <a:ext cx="567118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25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7月初</a:t>
            </a:r>
            <a:endParaRPr sz="1725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5431" y="2841212"/>
            <a:ext cx="1543692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决策周期延长,从</a:t>
            </a:r>
            <a:endParaRPr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单月扩展至未来三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个月滚动决策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01753" y="2841212"/>
            <a:ext cx="1543692" cy="9605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消除</a:t>
            </a: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幻觉</a:t>
            </a:r>
            <a:r>
              <a:rPr lang="zh-CN"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引</a:t>
            </a: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入分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步推理和思维链，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保障输出逻辑一致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17536" y="2844387"/>
            <a:ext cx="1691211" cy="9605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31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多电厂并行决策架</a:t>
            </a:r>
            <a:endParaRPr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3175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构改造，单实例串行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3175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改为并行处理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70852" y="2841212"/>
            <a:ext cx="1580197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F"/>
                </a:solidFill>
                <a:latin typeface="Noto Sans SC" panose="020B0200000000000000" charset="-122"/>
                <a:ea typeface="Noto Sans SC" panose="020B0200000000000000" charset="-122"/>
              </a:rPr>
              <a:t>多电厂并行决策回</a:t>
            </a:r>
            <a:endParaRPr sz="1425" b="0" i="0">
              <a:solidFill>
                <a:srgbClr val="00000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归验证，决策收益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验证，模型后端实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时更新库存变化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70180" y="2843879"/>
            <a:ext cx="1520190" cy="7148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在可视化界面上显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示各电厂</a:t>
            </a:r>
            <a:r>
              <a:rPr lang="en-US" altLang="zh-CN" sz="1425">
                <a:latin typeface="Noto Sans SC" panose="020B0200000000000000" charset="-122"/>
                <a:ea typeface="Noto Sans SC" panose="020B0200000000000000" charset="-122"/>
              </a:rPr>
              <a:t>3</a:t>
            </a:r>
            <a:r>
              <a:rPr lang="zh-CN" altLang="en-US" sz="1425">
                <a:latin typeface="Noto Sans SC" panose="020B0200000000000000" charset="-122"/>
                <a:ea typeface="Noto Sans SC" panose="020B0200000000000000" charset="-122"/>
              </a:rPr>
              <a:t>个月内的</a:t>
            </a:r>
            <a:endParaRPr lang="zh-CN" altLang="en-US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25">
                <a:latin typeface="Noto Sans SC" panose="020B0200000000000000" charset="-122"/>
                <a:ea typeface="Noto Sans SC" panose="020B0200000000000000" charset="-122"/>
              </a:rPr>
              <a:t>全部决策情况</a:t>
            </a:r>
            <a:endParaRPr lang="zh-CN" altLang="en-US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47750" y="4615338"/>
            <a:ext cx="174383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多电厂并行决策</a:t>
            </a:r>
            <a:endParaRPr sz="19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66413" y="4615338"/>
            <a:ext cx="1245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FBFDFD"/>
                </a:solidFill>
                <a:latin typeface="Noto Sans SC" panose="020B0200000000000000" charset="-122"/>
                <a:ea typeface="Noto Sans SC" panose="020B0200000000000000" charset="-122"/>
              </a:rPr>
              <a:t>长周期推演</a:t>
            </a:r>
            <a:endParaRPr sz="1875" b="1" i="0">
              <a:solidFill>
                <a:srgbClr val="FBFD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0427" y="4615021"/>
            <a:ext cx="1976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75" b="1" i="0">
                <a:solidFill>
                  <a:srgbClr val="FBFDFD"/>
                </a:solidFill>
                <a:latin typeface="Noto Sans SC" panose="020B0200000000000000" charset="-122"/>
                <a:ea typeface="Noto Sans SC" panose="020B0200000000000000" charset="-122"/>
              </a:rPr>
              <a:t>以电定煤</a:t>
            </a:r>
            <a:endParaRPr sz="1875" b="1" i="0">
              <a:solidFill>
                <a:srgbClr val="FBFD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6343" y="4646771"/>
            <a:ext cx="124415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5" b="1" i="0">
                <a:solidFill>
                  <a:srgbClr val="FBFDFD"/>
                </a:solidFill>
                <a:latin typeface="Noto Sans SC" panose="020B0200000000000000" charset="-122"/>
                <a:ea typeface="Noto Sans SC" panose="020B0200000000000000" charset="-122"/>
              </a:rPr>
              <a:t>逻辑一致性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04094" y="5290470"/>
            <a:ext cx="179946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110"/>
                </a:solidFill>
                <a:latin typeface="Noto Sans SC" panose="020B0200000000000000" charset="-122"/>
                <a:ea typeface="Noto Sans SC" panose="020B0200000000000000" charset="-122"/>
              </a:rPr>
              <a:t>决策周期扩展至三个月</a:t>
            </a:r>
            <a:endParaRPr lang="zh-CN" sz="1425" b="0" i="0">
              <a:solidFill>
                <a:srgbClr val="00011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23724" y="5304282"/>
            <a:ext cx="2100262" cy="54949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sz="1575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决策模型的前端输出</a:t>
            </a:r>
            <a:endParaRPr lang="zh-CN" sz="1575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sz="1575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与后台决策数据保持一致</a:t>
            </a:r>
            <a:endParaRPr lang="zh-CN" sz="1575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0603" y="5321808"/>
            <a:ext cx="1827371" cy="50063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各电厂独立通道隔离</a:t>
            </a:r>
            <a:endParaRPr sz="153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spcBef>
                <a:spcPts val="400"/>
              </a:spcBef>
            </a:pPr>
            <a:r>
              <a:rPr lang="zh-CN" sz="1535">
                <a:latin typeface="Noto Sans SC" panose="020B0200000000000000" charset="-122"/>
                <a:ea typeface="Noto Sans SC" panose="020B0200000000000000" charset="-122"/>
              </a:rPr>
              <a:t>验证通过</a:t>
            </a:r>
            <a:endParaRPr lang="zh-CN" sz="153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47688" y="5321808"/>
            <a:ext cx="1622202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利用发电量预测结果</a:t>
            </a:r>
            <a:endParaRPr lang="zh-CN"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实时推演库存变化</a:t>
            </a:r>
            <a:endParaRPr lang="zh-CN"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28"/>
          <p:cNvSpPr txBox="1"/>
          <p:nvPr/>
        </p:nvSpPr>
        <p:spPr>
          <a:xfrm>
            <a:off x="8062531" y="2844387"/>
            <a:ext cx="1543692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利用发电量预测结</a:t>
            </a:r>
            <a:endParaRPr lang="zh-CN"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果推演决策周期内</a:t>
            </a:r>
            <a:endParaRPr lang="zh-CN"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库存变化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126444" y="4115136"/>
            <a:ext cx="3426047" cy="23268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25693" y="4111656"/>
            <a:ext cx="3409554" cy="233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9353" y="1584069"/>
            <a:ext cx="3417474" cy="23274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123967" y="1585551"/>
            <a:ext cx="3418713" cy="23235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30034" y="4110513"/>
            <a:ext cx="3404631" cy="233324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39572" y="1587531"/>
            <a:ext cx="3391079" cy="232571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" y="3281076"/>
            <a:ext cx="805834" cy="126358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5915" y="621965"/>
            <a:ext cx="988218" cy="7364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87474" y="5233797"/>
            <a:ext cx="703821" cy="91306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0275" y="0"/>
            <a:ext cx="917911" cy="69913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010" y="1845419"/>
            <a:ext cx="426243" cy="45939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" y="1778508"/>
            <a:ext cx="309562" cy="581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5115" y="385762"/>
            <a:ext cx="2983515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010E45"/>
                </a:solidFill>
                <a:latin typeface="Noto Sans SC" panose="020B0200000000000000" charset="-122"/>
                <a:ea typeface="Noto Sans SC" panose="020B0200000000000000" charset="-122"/>
              </a:rPr>
              <a:t>整改</a:t>
            </a:r>
            <a:r>
              <a:rPr lang="zh-CN" sz="3900" b="1" i="0">
                <a:solidFill>
                  <a:srgbClr val="010E45"/>
                </a:solidFill>
                <a:latin typeface="Noto Sans SC" panose="020B0200000000000000" charset="-122"/>
                <a:ea typeface="Noto Sans SC" panose="020B0200000000000000" charset="-122"/>
              </a:rPr>
              <a:t>情况</a:t>
            </a:r>
            <a:r>
              <a:rPr sz="3900" b="1" i="0">
                <a:solidFill>
                  <a:srgbClr val="010E45"/>
                </a:solidFill>
                <a:latin typeface="Noto Sans SC" panose="020B0200000000000000" charset="-122"/>
                <a:ea typeface="Noto Sans SC" panose="020B0200000000000000" charset="-122"/>
              </a:rPr>
              <a:t>总结</a:t>
            </a:r>
            <a:endParaRPr sz="3900" b="1" i="0">
              <a:solidFill>
                <a:srgbClr val="010E4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0259" y="1003458"/>
            <a:ext cx="951071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endParaRPr sz="1725" b="0" i="0">
              <a:solidFill>
                <a:srgbClr val="12141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20"/>
            </p:custDataLst>
          </p:nvPr>
        </p:nvSpPr>
        <p:spPr>
          <a:xfrm>
            <a:off x="1279302" y="2132361"/>
            <a:ext cx="1603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模型部署</a:t>
            </a:r>
            <a:endParaRPr sz="31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21"/>
            </p:custDataLst>
          </p:nvPr>
        </p:nvSpPr>
        <p:spPr>
          <a:xfrm>
            <a:off x="4913471" y="2132457"/>
            <a:ext cx="1603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预测精度</a:t>
            </a:r>
            <a:endParaRPr sz="31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22"/>
            </p:custDataLst>
          </p:nvPr>
        </p:nvSpPr>
        <p:spPr>
          <a:xfrm>
            <a:off x="8488965" y="2132457"/>
            <a:ext cx="1603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决策能力</a:t>
            </a:r>
            <a:endParaRPr sz="315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23"/>
            </p:custDataLst>
          </p:nvPr>
        </p:nvSpPr>
        <p:spPr>
          <a:xfrm>
            <a:off x="4916328" y="2748534"/>
            <a:ext cx="2593752" cy="8389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煤价与运费短期MAPE小于</a:t>
            </a:r>
            <a:endParaRPr sz="1725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3</a:t>
            </a: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%,长期MAPE小于</a:t>
            </a:r>
            <a:r>
              <a:rPr lang="en-US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5</a:t>
            </a: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%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24"/>
            </p:custDataLst>
          </p:nvPr>
        </p:nvSpPr>
        <p:spPr>
          <a:xfrm>
            <a:off x="8493347" y="2839593"/>
            <a:ext cx="2616327" cy="5649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7940"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覆盖4电厂并行决策,周期</a:t>
            </a:r>
            <a:endParaRPr sz="1760" b="0" i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扩展至3个月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25"/>
            </p:custDataLst>
          </p:nvPr>
        </p:nvSpPr>
        <p:spPr>
          <a:xfrm>
            <a:off x="1282922" y="2840450"/>
            <a:ext cx="2445734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5大预测子模型加1个决策</a:t>
            </a:r>
            <a:endParaRPr sz="1760" b="0" i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大模型,全部完成部署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26"/>
            </p:custDataLst>
          </p:nvPr>
        </p:nvSpPr>
        <p:spPr>
          <a:xfrm>
            <a:off x="8518302" y="4673536"/>
            <a:ext cx="1222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可视化</a:t>
            </a:r>
            <a:endParaRPr sz="315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27"/>
            </p:custDataLst>
          </p:nvPr>
        </p:nvSpPr>
        <p:spPr>
          <a:xfrm>
            <a:off x="1279969" y="4674298"/>
            <a:ext cx="1630965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知识产权</a:t>
            </a:r>
            <a:endParaRPr sz="315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28"/>
            </p:custDataLst>
          </p:nvPr>
        </p:nvSpPr>
        <p:spPr>
          <a:xfrm>
            <a:off x="4914138" y="4674298"/>
            <a:ext cx="1601628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7F9FB"/>
                </a:solidFill>
                <a:latin typeface="Noto Sans SC" panose="020B0200000000000000" charset="-122"/>
                <a:ea typeface="Noto Sans SC" panose="020B0200000000000000" charset="-122"/>
              </a:rPr>
              <a:t>安全合规</a:t>
            </a:r>
            <a:endParaRPr sz="3150" b="1" i="0">
              <a:solidFill>
                <a:srgbClr val="F7F9F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9"/>
            </p:custDataLst>
          </p:nvPr>
        </p:nvSpPr>
        <p:spPr>
          <a:xfrm>
            <a:off x="4917090" y="5381529"/>
            <a:ext cx="2416397" cy="5326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等保复测流程启动,漏洞</a:t>
            </a:r>
            <a:endParaRPr sz="1610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整改持续推进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30"/>
            </p:custDataLst>
          </p:nvPr>
        </p:nvSpPr>
        <p:spPr>
          <a:xfrm>
            <a:off x="1283684" y="5382291"/>
            <a:ext cx="2561463" cy="5319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5项软著申请推进中,专利</a:t>
            </a:r>
            <a:endParaRPr sz="1685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已</a:t>
            </a:r>
            <a:r>
              <a:rPr lang="zh-CN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公开</a:t>
            </a:r>
            <a:endParaRPr lang="zh-CN"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31"/>
            </p:custDataLst>
          </p:nvPr>
        </p:nvSpPr>
        <p:spPr>
          <a:xfrm>
            <a:off x="8522684" y="5382291"/>
            <a:ext cx="2497312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煤价趋势拐点标识已上线,</a:t>
            </a:r>
            <a:endParaRPr sz="1685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首页</a:t>
            </a:r>
            <a:r>
              <a:rPr lang="zh-CN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展示各模块概述，</a:t>
            </a:r>
            <a:endParaRPr lang="zh-CN"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决策输出实现可视化</a:t>
            </a:r>
            <a:endParaRPr lang="zh-CN"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877" y="1060037"/>
            <a:ext cx="6880002" cy="4822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7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算法先进性(一):预测小模型架构</a:t>
            </a:r>
            <a:endParaRPr sz="37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42244" y="1890522"/>
            <a:ext cx="364883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0022A"/>
                </a:solidFill>
                <a:latin typeface="Noto Sans SC" panose="020B0200000000000000" charset="-122"/>
                <a:ea typeface="Noto Sans SC" panose="020B0200000000000000" charset="-122"/>
              </a:rPr>
              <a:t>预测小模型:TimeMixer架构</a:t>
            </a:r>
            <a:endParaRPr sz="2325" b="0" i="0">
              <a:solidFill>
                <a:srgbClr val="0002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88684" y="2351341"/>
            <a:ext cx="6061257" cy="5020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75895"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本项目所研究的五个预测小模型(进口煤价、国内煤价、</a:t>
            </a:r>
            <a:endParaRPr sz="1650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发电量、国际海运费、国内海运费)采用TimeMixer架构实现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7087" y="3237642"/>
            <a:ext cx="1069752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328"/>
                </a:solidFill>
                <a:latin typeface="Noto Sans SC" panose="020B0200000000000000" charset="-122"/>
                <a:ea typeface="Noto Sans SC" panose="020B0200000000000000" charset="-122"/>
              </a:rPr>
              <a:t>技术来源</a:t>
            </a:r>
            <a:endParaRPr sz="2100" b="1" i="0">
              <a:solidFill>
                <a:srgbClr val="0003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82512" y="3269075"/>
            <a:ext cx="1038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技术优势</a:t>
            </a:r>
            <a:endParaRPr sz="2025" b="0" i="0">
              <a:solidFill>
                <a:srgbClr val="0003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515" y="3667029"/>
            <a:ext cx="4681085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由清华大学团队提出(ICLR 2024),在国际时间序列</a:t>
            </a:r>
            <a:endParaRPr sz="1685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685">
                <a:latin typeface="Noto Sans SC" panose="020B0200000000000000" charset="-122"/>
                <a:ea typeface="Noto Sans SC" panose="020B0200000000000000" charset="-122"/>
              </a:rPr>
              <a:t>预测领域横向评估中表现领先</a:t>
            </a:r>
            <a:endParaRPr lang="zh-CN" sz="16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1654" y="3677888"/>
            <a:ext cx="5141142" cy="7668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120"/>
                </a:solidFill>
                <a:latin typeface="Noto Sans SC" panose="020B0200000000000000" charset="-122"/>
                <a:ea typeface="Noto Sans SC" panose="020B0200000000000000" charset="-122"/>
              </a:rPr>
              <a:t>通过多尺度季节-趋势可分解混合,实现对历史数据中短期、</a:t>
            </a:r>
            <a:endParaRPr sz="1650" b="0" i="0">
              <a:solidFill>
                <a:srgbClr val="00012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中长期与季节性变化趋势的级联提取,确保预测结果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  <a:p>
            <a:pPr marL="2540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精确反映未来变化趋势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3" name="Picture 12" descr="timemixer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959" y="4662392"/>
            <a:ext cx="4965864" cy="19949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614" y="4004881"/>
            <a:ext cx="2999792" cy="24522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71" y="1440561"/>
            <a:ext cx="2209256" cy="193786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183" y="4645230"/>
            <a:ext cx="2202370" cy="11511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122" y="4644485"/>
            <a:ext cx="2181946" cy="1152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44" y="4644961"/>
            <a:ext cx="2179421" cy="115157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266" y="4002769"/>
            <a:ext cx="1490091" cy="165195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854" y="1427626"/>
            <a:ext cx="1080135" cy="112295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836" y="1451514"/>
            <a:ext cx="1025599" cy="111623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9046" y="4364069"/>
            <a:ext cx="490537" cy="62864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3850" y="4255389"/>
            <a:ext cx="481874" cy="6393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7405" y="358235"/>
            <a:ext cx="2970371" cy="8449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735" b="1" i="0">
                <a:solidFill>
                  <a:srgbClr val="00032F"/>
                </a:solidFill>
                <a:latin typeface="Noto Sans SC" panose="020B0200000000000000" charset="-122"/>
                <a:ea typeface="Noto Sans SC" panose="020B0200000000000000" charset="-122"/>
              </a:rPr>
              <a:t>算法先进性(二):</a:t>
            </a:r>
            <a:endParaRPr sz="2735" b="1" i="0">
              <a:solidFill>
                <a:srgbClr val="00032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580"/>
              </a:spcBef>
            </a:pPr>
            <a:r>
              <a:rPr lang="zh-CN" sz="2735" b="1">
                <a:latin typeface="Noto Sans SC" panose="020B0200000000000000" charset="-122"/>
                <a:ea typeface="Noto Sans SC" panose="020B0200000000000000" charset="-122"/>
              </a:rPr>
              <a:t>采需决策大模型架构</a:t>
            </a:r>
            <a:endParaRPr lang="zh-CN" sz="2735" b="1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746" y="1828514"/>
            <a:ext cx="6610350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10433"/>
                </a:solidFill>
                <a:latin typeface="Noto Sans SC" panose="020B0200000000000000" charset="-122"/>
                <a:ea typeface="Noto Sans SC" panose="020B0200000000000000" charset="-122"/>
              </a:rPr>
              <a:t>采需决策模型:Qwen大语言模型加工具调用架构</a:t>
            </a:r>
            <a:endParaRPr sz="2400" b="1" i="0">
              <a:solidFill>
                <a:srgbClr val="0104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175" y="2472975"/>
            <a:ext cx="6402228" cy="68732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000121"/>
                </a:solidFill>
                <a:latin typeface="Noto Sans SC" panose="020B0200000000000000" charset="-122"/>
                <a:ea typeface="Noto Sans SC" panose="020B0200000000000000" charset="-122"/>
              </a:rPr>
              <a:t>基础模型基于Qwen通义千问大语言模型,由阿里巴巴集团旗下</a:t>
            </a:r>
            <a:endParaRPr sz="1760" b="0" i="0">
              <a:solidFill>
                <a:srgbClr val="0001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855"/>
              </a:spcBef>
            </a:pPr>
            <a:r>
              <a:rPr lang="zh-CN" sz="1760">
                <a:latin typeface="Noto Sans SC" panose="020B0200000000000000" charset="-122"/>
                <a:ea typeface="Noto Sans SC" panose="020B0200000000000000" charset="-122"/>
              </a:rPr>
              <a:t>团队研发并持续优化,代表国内大模型技术的先进水平</a:t>
            </a:r>
            <a:endParaRPr lang="zh-CN" sz="17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937" y="4065841"/>
            <a:ext cx="7016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基于大模型工具调用机制,对接库存策略引擎(Step1~Step5)完成分步寻优</a:t>
            </a:r>
            <a:endParaRPr sz="1725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00006" y="4861083"/>
            <a:ext cx="1980247" cy="65512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23"/>
                </a:solidFill>
                <a:latin typeface="Noto Sans SC" panose="020B0200000000000000" charset="-122"/>
                <a:ea typeface="Noto Sans SC" panose="020B0200000000000000" charset="-122"/>
              </a:rPr>
              <a:t>内置库存及采购策略</a:t>
            </a:r>
            <a:endParaRPr sz="1575" b="0" i="0">
              <a:solidFill>
                <a:srgbClr val="00012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77165">
              <a:spcBef>
                <a:spcPts val="1110"/>
              </a:spcBef>
            </a:pPr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企业实际约束条件</a:t>
            </a:r>
            <a:endParaRPr lang="zh-CN" sz="15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9937" y="4861845"/>
            <a:ext cx="1330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10227"/>
                </a:solidFill>
                <a:latin typeface="Noto Sans SC" panose="020B0200000000000000" charset="-122"/>
                <a:ea typeface="Noto Sans SC" panose="020B0200000000000000" charset="-122"/>
              </a:rPr>
              <a:t>预测模型输出</a:t>
            </a:r>
            <a:endParaRPr sz="1650" b="0" i="0">
              <a:solidFill>
                <a:srgbClr val="0102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91937" y="4861845"/>
            <a:ext cx="1740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11E"/>
                </a:solidFill>
                <a:latin typeface="Noto Sans SC" panose="020B0200000000000000" charset="-122"/>
                <a:ea typeface="Noto Sans SC" panose="020B0200000000000000" charset="-122"/>
              </a:rPr>
              <a:t>准确率反馈机制</a:t>
            </a:r>
            <a:endParaRPr sz="1575" b="1" i="0">
              <a:solidFill>
                <a:srgbClr val="0001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3446" y="5291232"/>
            <a:ext cx="1592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五大预测结果接入</a:t>
            </a:r>
            <a:endParaRPr sz="150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56446" y="5291232"/>
            <a:ext cx="1211865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E"/>
                </a:solidFill>
                <a:latin typeface="Noto Sans SC" panose="020B0200000000000000" charset="-122"/>
                <a:ea typeface="Noto Sans SC" panose="020B0200000000000000" charset="-122"/>
              </a:rPr>
              <a:t>迭代优化闭环</a:t>
            </a:r>
            <a:endParaRPr sz="1575" b="0" i="0">
              <a:solidFill>
                <a:srgbClr val="0001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175" y="6085713"/>
            <a:ext cx="6666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核心价值:通过工具调用与策略迭代寻优,自动获取最佳采购方案</a:t>
            </a:r>
            <a:endParaRPr sz="1800" b="1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7" y="1149304"/>
            <a:ext cx="11248167" cy="1723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18" y="3045428"/>
            <a:ext cx="6163240" cy="25176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09" y="1932812"/>
            <a:ext cx="11033956" cy="9083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062" y="3605783"/>
            <a:ext cx="1641729" cy="164172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70" y="3606355"/>
            <a:ext cx="1631922" cy="16366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638" y="2004412"/>
            <a:ext cx="1149000" cy="67223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018" y="2002250"/>
            <a:ext cx="1142589" cy="6732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2910" y="2006727"/>
            <a:ext cx="1147620" cy="66865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4921" y="2010822"/>
            <a:ext cx="1145302" cy="66532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7639" y="2007012"/>
            <a:ext cx="1127887" cy="67294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7010" y="2006095"/>
            <a:ext cx="1139094" cy="66725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7906" y="2010822"/>
            <a:ext cx="1134985" cy="66484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0426" y="2014093"/>
            <a:ext cx="1138618" cy="66220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2682" y="2016844"/>
            <a:ext cx="1135380" cy="6603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77630" y="3697986"/>
            <a:ext cx="337906" cy="4188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9394" y="358235"/>
            <a:ext cx="5439537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00022B"/>
                </a:solidFill>
                <a:latin typeface="Noto Sans SC" panose="020B0200000000000000" charset="-122"/>
                <a:ea typeface="Noto Sans SC" panose="020B0200000000000000" charset="-122"/>
              </a:rPr>
              <a:t>算法先进性(三):多维多源数据底座</a:t>
            </a:r>
            <a:endParaRPr sz="2775" b="1" i="0">
              <a:solidFill>
                <a:srgbClr val="0002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427" y="1340262"/>
            <a:ext cx="194748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数据维度:10大类</a:t>
            </a:r>
            <a:endParaRPr sz="20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34362" y="2107120"/>
            <a:ext cx="850106" cy="43938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行业政策及</a:t>
            </a:r>
            <a:endParaRPr sz="123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58420"/>
            <a:r>
              <a:rPr lang="zh-CN" sz="1235">
                <a:latin typeface="Noto Sans SC" panose="020B0200000000000000" charset="-122"/>
                <a:ea typeface="Noto Sans SC" panose="020B0200000000000000" charset="-122"/>
              </a:rPr>
              <a:t>重点事件</a:t>
            </a:r>
            <a:endParaRPr lang="zh-CN" sz="123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78178" y="2107120"/>
            <a:ext cx="900112" cy="4401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76530"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运输端</a:t>
            </a:r>
            <a:endParaRPr sz="131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310">
                <a:latin typeface="Noto Sans SC" panose="020B0200000000000000" charset="-122"/>
                <a:ea typeface="Noto Sans SC" panose="020B0200000000000000" charset="-122"/>
              </a:rPr>
              <a:t>销售端数据</a:t>
            </a:r>
            <a:endParaRPr lang="zh-CN" sz="131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91937" y="2107120"/>
            <a:ext cx="1008221" cy="4401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88265" algn="ctr">
              <a:spcBef>
                <a:spcPts val="0"/>
              </a:spcBef>
              <a:spcAft>
                <a:spcPts val="0"/>
              </a:spcAft>
            </a:pPr>
            <a:r>
              <a:rPr sz="123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电力化工建</a:t>
            </a:r>
            <a:endParaRPr sz="123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235">
                <a:latin typeface="Noto Sans SC" panose="020B0200000000000000" charset="-122"/>
                <a:ea typeface="Noto Sans SC" panose="020B0200000000000000" charset="-122"/>
              </a:rPr>
              <a:t>材等下游数据</a:t>
            </a:r>
            <a:endParaRPr lang="zh-CN" sz="123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1362" y="2199036"/>
            <a:ext cx="68437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宏观经济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06603" y="2199036"/>
            <a:ext cx="830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煤炭生产端</a:t>
            </a:r>
            <a:endParaRPr sz="12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94277" y="2199036"/>
            <a:ext cx="977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替代能源动态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59603" y="2199036"/>
            <a:ext cx="391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天气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31940" y="2199036"/>
            <a:ext cx="391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汇率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99109" y="2199036"/>
            <a:ext cx="830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30304"/>
                </a:solidFill>
                <a:latin typeface="Noto Sans SC" panose="020B0200000000000000" charset="-122"/>
                <a:ea typeface="Noto Sans SC" panose="020B0200000000000000" charset="-122"/>
              </a:rPr>
              <a:t>大企业调价</a:t>
            </a:r>
            <a:endParaRPr sz="1275" b="0" i="0">
              <a:solidFill>
                <a:srgbClr val="03030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20512" y="3054762"/>
            <a:ext cx="921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数据来源</a:t>
            </a:r>
            <a:endParaRPr sz="172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43768" y="3484149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外部数据</a:t>
            </a:r>
            <a:endParaRPr sz="16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21105" y="3484149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CFEFD"/>
                </a:solidFill>
                <a:latin typeface="Noto Sans SC" panose="020B0200000000000000" charset="-122"/>
                <a:ea typeface="Noto Sans SC" panose="020B0200000000000000" charset="-122"/>
              </a:rPr>
              <a:t>内部数据</a:t>
            </a:r>
            <a:endParaRPr sz="1650" b="1" i="0">
              <a:solidFill>
                <a:srgbClr val="FCFE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34512" y="3881342"/>
            <a:ext cx="2885313" cy="148180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第三方煤炭数据库(找煤网、煤炭市场</a:t>
            </a:r>
            <a:endParaRPr sz="1275" b="0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网、秦皇岛煤炭网等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1115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煤炭行业报告(找煤网、汾渭等日报)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1110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权威门户网站(统计局、海关总署、行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业协会)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64940" y="3944112"/>
            <a:ext cx="2120455" cy="10210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F7FDFE"/>
                </a:solidFill>
                <a:latin typeface="Noto Sans SC" panose="020B0200000000000000" charset="-122"/>
                <a:ea typeface="Noto Sans SC" panose="020B0200000000000000" charset="-122"/>
              </a:rPr>
              <a:t>福建华电下属电厂日报数据</a:t>
            </a:r>
            <a:endParaRPr sz="1275" b="0" i="0">
              <a:solidFill>
                <a:srgbClr val="F7FD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>
              <a:spcBef>
                <a:spcPts val="1360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历史采购合同数据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58420">
              <a:spcBef>
                <a:spcPts val="1360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历史发电量数据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20512" y="5748908"/>
            <a:ext cx="921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数据规模</a:t>
            </a:r>
            <a:endParaRPr sz="1725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075687" y="6117812"/>
            <a:ext cx="8011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跨越多个自然年,包含数百个特征变量的高维时序数据库,为模型主动学习与自动寻优奠定数据基础</a:t>
            </a:r>
            <a:endParaRPr sz="1425" b="0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756" y="1523047"/>
            <a:ext cx="3410298" cy="18575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157" y="1520952"/>
            <a:ext cx="3401335" cy="18505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64" y="1528476"/>
            <a:ext cx="3399550" cy="185213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597" y="3500015"/>
            <a:ext cx="3404616" cy="179039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66" y="3505771"/>
            <a:ext cx="3394032" cy="17850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3397" y="137058"/>
            <a:ext cx="2538603" cy="142409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939" y="558355"/>
            <a:ext cx="804053" cy="94678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985" y="4362074"/>
            <a:ext cx="881157" cy="7858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2632" y="4340352"/>
            <a:ext cx="741258" cy="79352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1635" y="2548509"/>
            <a:ext cx="752976" cy="71485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6542" y="2568824"/>
            <a:ext cx="702849" cy="6886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0390" y="479869"/>
            <a:ext cx="2979134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i="0">
                <a:solidFill>
                  <a:srgbClr val="01093C"/>
                </a:solidFill>
                <a:latin typeface="Noto Sans SC" panose="020B0200000000000000" charset="-122"/>
                <a:ea typeface="Noto Sans SC" panose="020B0200000000000000" charset="-122"/>
              </a:rPr>
              <a:t>模型</a:t>
            </a:r>
            <a:r>
              <a:rPr sz="2850" b="1" i="0">
                <a:solidFill>
                  <a:srgbClr val="01093C"/>
                </a:solidFill>
                <a:latin typeface="Noto Sans SC" panose="020B0200000000000000" charset="-122"/>
                <a:ea typeface="Noto Sans SC" panose="020B0200000000000000" charset="-122"/>
              </a:rPr>
              <a:t>创新性</a:t>
            </a:r>
            <a:endParaRPr sz="2850" b="1" i="0">
              <a:solidFill>
                <a:srgbClr val="01093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4768" y="1004220"/>
            <a:ext cx="3645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首创电煤领域预测-决策一体化智能系统</a:t>
            </a:r>
            <a:endParaRPr sz="1575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70259" y="1646396"/>
            <a:ext cx="1595818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3决策机制创新</a:t>
            </a:r>
            <a:endParaRPr sz="1800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9178" y="1677733"/>
            <a:ext cx="1125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1架构创新</a:t>
            </a:r>
            <a:endParaRPr sz="1875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5431" y="1677733"/>
            <a:ext cx="1154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2算法创新</a:t>
            </a:r>
            <a:endParaRPr sz="1950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70259" y="1983962"/>
            <a:ext cx="2826734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大语言模型Qwen加强化学习融合</a:t>
            </a:r>
            <a:endParaRPr sz="142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决策,多智能体架构实现自主寻优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与动态进化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9178" y="2014537"/>
            <a:ext cx="3130391" cy="4714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1+5预测-决策一体化架构,五大预测</a:t>
            </a:r>
            <a:endParaRPr sz="146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子模型与决策大模型深度融合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94669" y="2014537"/>
            <a:ext cx="3040380" cy="11748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MLP-Mixer首创性应用于煤价海运费</a:t>
            </a:r>
            <a:endParaRPr sz="145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发电量预测,MAPE小于3%,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精度较传统RNN提升显著,效率较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Transformer提升30%以上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查新结论:国内领先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9940" y="2964370"/>
            <a:ext cx="1973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B"/>
                </a:solidFill>
                <a:latin typeface="Noto Sans SC" panose="020B0200000000000000" charset="-122"/>
                <a:ea typeface="Noto Sans SC" panose="020B0200000000000000" charset="-122"/>
              </a:rPr>
              <a:t>查新结论:填补国内空白</a:t>
            </a:r>
            <a:endParaRPr sz="1500" b="0" i="0">
              <a:solidFill>
                <a:srgbClr val="0000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71688" y="2964370"/>
            <a:ext cx="1651444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查新结论:行业首创</a:t>
            </a:r>
            <a:endParaRPr sz="150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49178" y="3637216"/>
            <a:ext cx="1565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1032C"/>
                </a:solidFill>
                <a:latin typeface="Noto Sans SC" panose="020B0200000000000000" charset="-122"/>
                <a:ea typeface="Noto Sans SC" panose="020B0200000000000000" charset="-122"/>
              </a:rPr>
              <a:t>4数据应用创新</a:t>
            </a:r>
            <a:endParaRPr sz="1800" b="1" i="0">
              <a:solidFill>
                <a:srgbClr val="0103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18196" y="3637216"/>
            <a:ext cx="2268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5能源智能化应用创新</a:t>
            </a:r>
            <a:endParaRPr sz="1800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9937" y="3973925"/>
            <a:ext cx="3070383" cy="4708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00019"/>
                </a:solidFill>
                <a:latin typeface="Noto Sans SC" panose="020B0200000000000000" charset="-122"/>
                <a:ea typeface="Noto Sans SC" panose="020B0200000000000000" charset="-122"/>
              </a:rPr>
              <a:t>高维多源异构数据融合底座,覆盖数</a:t>
            </a:r>
            <a:endParaRPr sz="1385" b="0" i="0">
              <a:solidFill>
                <a:srgbClr val="0000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百个特征变量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17434" y="3973925"/>
            <a:ext cx="2826067" cy="111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国内首个电煤采需一体化系统,已</a:t>
            </a:r>
            <a:endParaRPr sz="138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在福建华电4家电厂部署,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  <a:p>
            <a:pPr marL="30480"/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日度输出最优采购策略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  <a:p>
            <a:pPr marL="30480">
              <a:spcBef>
                <a:spcPts val="1360"/>
              </a:spcBef>
            </a:pPr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查新结论:首个上线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9940" y="4893183"/>
            <a:ext cx="1622202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B"/>
                </a:solidFill>
                <a:latin typeface="Noto Sans SC" panose="020B0200000000000000" charset="-122"/>
                <a:ea typeface="Noto Sans SC" panose="020B0200000000000000" charset="-122"/>
              </a:rPr>
              <a:t>查新结论:行业首创</a:t>
            </a:r>
            <a:endParaRPr sz="1500" b="0" i="0">
              <a:solidFill>
                <a:srgbClr val="0000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56688" y="5750433"/>
            <a:ext cx="7249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20"/>
                </a:solidFill>
                <a:latin typeface="Noto Sans SC" panose="020B0200000000000000" charset="-122"/>
                <a:ea typeface="Noto Sans SC" panose="020B0200000000000000" charset="-122"/>
              </a:rPr>
              <a:t>经查新,国内外未见相同技术特征成果,本项目在电煤采需决策领域实现多项国内首创</a:t>
            </a:r>
            <a:endParaRPr sz="1500" b="0" i="0">
              <a:solidFill>
                <a:srgbClr val="00002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35" y="5310949"/>
            <a:ext cx="9015381" cy="10757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975" y="3961848"/>
            <a:ext cx="7350633" cy="11568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146" y="2587679"/>
            <a:ext cx="2366867" cy="116200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109" y="1220438"/>
            <a:ext cx="2370748" cy="11568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717" y="3958179"/>
            <a:ext cx="2361342" cy="11473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800" y="5300853"/>
            <a:ext cx="2354987" cy="109899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0886" y="742332"/>
            <a:ext cx="1232535" cy="98983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1169" y="5453919"/>
            <a:ext cx="1024849" cy="81133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4997" y="4121911"/>
            <a:ext cx="853344" cy="83912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219" y="1397429"/>
            <a:ext cx="858202" cy="80130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981" y="5453876"/>
            <a:ext cx="846201" cy="79866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077" y="4131010"/>
            <a:ext cx="844962" cy="79749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1196" y="2764440"/>
            <a:ext cx="843009" cy="8003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5980" y="388048"/>
            <a:ext cx="2158555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A37"/>
                </a:solidFill>
                <a:latin typeface="Noto Sans SC" panose="020B0200000000000000" charset="-122"/>
                <a:ea typeface="Noto Sans SC" panose="020B0200000000000000" charset="-122"/>
              </a:rPr>
              <a:t>未来工作计划</a:t>
            </a:r>
            <a:endParaRPr sz="2700" b="1" i="0">
              <a:solidFill>
                <a:srgbClr val="000A3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5669" y="1340262"/>
            <a:ext cx="3324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预测模型特征优化与参数调优</a:t>
            </a:r>
            <a:endParaRPr sz="1950" b="1" i="0">
              <a:solidFill>
                <a:srgbClr val="0003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49478" y="1582864"/>
            <a:ext cx="92611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90%</a:t>
            </a:r>
            <a:endParaRPr sz="300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5112" y="1618011"/>
            <a:ext cx="184594" cy="31537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8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D39"/>
                </a:solidFill>
                <a:latin typeface="Noto Sans SC" panose="020B0200000000000000" charset="-122"/>
                <a:ea typeface="Noto Sans SC" panose="020B0200000000000000" charset="-122"/>
              </a:rPr>
              <a:t>1</a:t>
            </a:r>
            <a:endParaRPr sz="1350" b="1" i="0">
              <a:solidFill>
                <a:srgbClr val="000D3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7094" y="1738979"/>
            <a:ext cx="4818221" cy="4708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21A"/>
                </a:solidFill>
                <a:latin typeface="Noto Sans SC" panose="020B0200000000000000" charset="-122"/>
                <a:ea typeface="Noto Sans SC" panose="020B0200000000000000" charset="-122"/>
              </a:rPr>
              <a:t>对特征优化后的模型进行深度排查,定位并修复特征错位问题,</a:t>
            </a:r>
            <a:endParaRPr sz="1350" b="0" i="0">
              <a:solidFill>
                <a:srgbClr val="00021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350">
                <a:latin typeface="Noto Sans SC" panose="020B0200000000000000" charset="-122"/>
                <a:ea typeface="Noto Sans SC" panose="020B0200000000000000" charset="-122"/>
              </a:rPr>
              <a:t>校核特征索引与数据对齐逻辑,完成修复后模型全量回归验证</a:t>
            </a:r>
            <a:endParaRPr lang="zh-CN" sz="13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1087" y="1829276"/>
            <a:ext cx="65941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目标:</a:t>
            </a:r>
            <a:endParaRPr sz="2250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46427" y="2717958"/>
            <a:ext cx="2826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1041D"/>
                </a:solidFill>
                <a:latin typeface="Noto Sans SC" panose="020B0200000000000000" charset="-122"/>
                <a:ea typeface="Noto Sans SC" panose="020B0200000000000000" charset="-122"/>
              </a:rPr>
              <a:t>等保整改措施设计与实施</a:t>
            </a:r>
            <a:endParaRPr sz="1875" b="1" i="0">
              <a:solidFill>
                <a:srgbClr val="0104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49478" y="2960560"/>
            <a:ext cx="89677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50%</a:t>
            </a:r>
            <a:endParaRPr sz="300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4347" y="2963608"/>
            <a:ext cx="246221" cy="3489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6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82F"/>
                </a:solidFill>
                <a:latin typeface="Noto Sans SC" panose="020B0200000000000000" charset="-122"/>
                <a:ea typeface="Noto Sans SC" panose="020B0200000000000000" charset="-122"/>
              </a:rPr>
              <a:t>2</a:t>
            </a:r>
            <a:endParaRPr sz="1650" b="1" i="0">
              <a:solidFill>
                <a:srgbClr val="0008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6523" y="3097720"/>
            <a:ext cx="6300787" cy="4897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1041D"/>
                </a:solidFill>
                <a:latin typeface="Noto Sans SC" panose="020B0200000000000000" charset="-122"/>
                <a:ea typeface="Noto Sans SC" panose="020B0200000000000000" charset="-122"/>
              </a:rPr>
              <a:t>验证密码策略、登录锁定、超时退出、三权分立、审计日志等功能是否符合基线</a:t>
            </a:r>
            <a:endParaRPr sz="1385" b="0" i="0">
              <a:solidFill>
                <a:srgbClr val="0104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270">
              <a:spcBef>
                <a:spcPts val="20"/>
              </a:spcBef>
            </a:pPr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要求,开展项目漏洞扫描,提取高危漏洞与中低危警告,植入安全保障配置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rot="21400800">
            <a:off x="2592990" y="3167729"/>
            <a:ext cx="671036" cy="34585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目标:</a:t>
            </a:r>
            <a:endParaRPr sz="2250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75002" y="4064317"/>
            <a:ext cx="2798921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325"/>
                </a:solidFill>
                <a:latin typeface="Noto Sans SC" panose="020B0200000000000000" charset="-122"/>
                <a:ea typeface="Noto Sans SC" panose="020B0200000000000000" charset="-122"/>
              </a:rPr>
              <a:t>模型持续调优与版本迭代</a:t>
            </a:r>
            <a:endParaRPr sz="1875" b="1" i="0">
              <a:solidFill>
                <a:srgbClr val="0003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4347" y="4341399"/>
            <a:ext cx="246221" cy="3184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A35"/>
                </a:solidFill>
                <a:latin typeface="Noto Sans SC" panose="020B0200000000000000" charset="-122"/>
                <a:ea typeface="Noto Sans SC" panose="020B0200000000000000" charset="-122"/>
              </a:rPr>
              <a:t>3</a:t>
            </a:r>
            <a:endParaRPr sz="1650" b="1" i="0">
              <a:solidFill>
                <a:srgbClr val="000A3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46427" y="4463034"/>
            <a:ext cx="4995481" cy="5021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31C"/>
                </a:solidFill>
                <a:latin typeface="Noto Sans SC" panose="020B0200000000000000" charset="-122"/>
                <a:ea typeface="Noto Sans SC" panose="020B0200000000000000" charset="-122"/>
              </a:rPr>
              <a:t>每日监督模型输出并与实际数据比对,自动化调优流程持续运行,</a:t>
            </a:r>
            <a:endParaRPr sz="1350" b="0" i="0">
              <a:solidFill>
                <a:srgbClr val="0003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30480"/>
            <a:r>
              <a:rPr lang="zh-CN" sz="1350">
                <a:latin typeface="Noto Sans SC" panose="020B0200000000000000" charset="-122"/>
                <a:ea typeface="Noto Sans SC" panose="020B0200000000000000" charset="-122"/>
              </a:rPr>
              <a:t>优化特征工程,补充新数据维度</a:t>
            </a:r>
            <a:endParaRPr lang="zh-CN" sz="13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75669" y="5412200"/>
            <a:ext cx="203539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325"/>
                </a:solidFill>
                <a:latin typeface="Noto Sans SC" panose="020B0200000000000000" charset="-122"/>
                <a:ea typeface="Noto Sans SC" panose="020B0200000000000000" charset="-122"/>
              </a:rPr>
              <a:t>知识产权成果固化</a:t>
            </a:r>
            <a:endParaRPr sz="1875" b="1" i="0">
              <a:solidFill>
                <a:srgbClr val="0003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99563" y="5624131"/>
            <a:ext cx="145370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四进行中</a:t>
            </a:r>
            <a:endParaRPr sz="2775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77193" y="5811678"/>
            <a:ext cx="3263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31C"/>
                </a:solidFill>
                <a:latin typeface="Noto Sans SC" panose="020B0200000000000000" charset="-122"/>
                <a:ea typeface="Noto Sans SC" panose="020B0200000000000000" charset="-122"/>
              </a:rPr>
              <a:t>5项软著审核跟进,5项发明专利受理推进</a:t>
            </a:r>
            <a:endParaRPr sz="1350" b="0" i="0">
              <a:solidFill>
                <a:srgbClr val="00031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82468" y="2339340"/>
            <a:ext cx="6168580" cy="14396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100" b="1" i="0">
                <a:solidFill>
                  <a:srgbClr val="021843"/>
                </a:solidFill>
                <a:latin typeface="Noto Sans SC" panose="020B0200000000000000" charset="-122"/>
                <a:ea typeface="Noto Sans SC" panose="020B0200000000000000" charset="-122"/>
              </a:rPr>
              <a:t>感谢聆听</a:t>
            </a:r>
            <a:endParaRPr sz="11100" b="1" i="0">
              <a:solidFill>
                <a:srgbClr val="02184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37713" y="3969353"/>
            <a:ext cx="6087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>
                <a:solidFill>
                  <a:srgbClr val="020B2E"/>
                </a:solidFill>
                <a:latin typeface="Noto Sans SC" panose="020B0200000000000000" charset="-122"/>
                <a:ea typeface="Noto Sans SC" panose="020B0200000000000000" charset="-122"/>
              </a:rPr>
              <a:t>华电福建公司采需决策系统项目组</a:t>
            </a:r>
            <a:endParaRPr sz="3150" b="0" i="0">
              <a:solidFill>
                <a:srgbClr val="020B2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78647" y="5471064"/>
            <a:ext cx="1776031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01082B"/>
                </a:solidFill>
                <a:latin typeface="Noto Sans SC" panose="020B0200000000000000" charset="-122"/>
                <a:ea typeface="Noto Sans SC" panose="020B0200000000000000" charset="-122"/>
              </a:rPr>
              <a:t>2026年7月</a:t>
            </a:r>
            <a:endParaRPr sz="2850" b="0" i="0">
              <a:solidFill>
                <a:srgbClr val="0108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2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3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4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5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6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7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8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9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0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1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2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3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4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5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6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7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8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19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0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1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2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3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4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5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6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7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8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9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0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1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2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3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4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5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6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7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38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39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0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1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2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3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4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5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6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7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8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9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0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1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2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3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4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3167</Words>
  <Application>WPS 演示</Application>
  <PresentationFormat>On-screen Show (16:9)</PresentationFormat>
  <Paragraphs>534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WPS_1704760870</cp:lastModifiedBy>
  <cp:revision>4</cp:revision>
  <dcterms:created xsi:type="dcterms:W3CDTF">2013-01-27T09:14:00Z</dcterms:created>
  <dcterms:modified xsi:type="dcterms:W3CDTF">2026-07-28T07:48:42Z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52A45FDA34244422A6652811DBA4872A_13</vt:lpwstr>
  </property>
</Properties>
</file>